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24"/>
  </p:notesMasterIdLst>
  <p:sldIdLst>
    <p:sldId id="271" r:id="rId2"/>
    <p:sldId id="282" r:id="rId3"/>
    <p:sldId id="283" r:id="rId4"/>
    <p:sldId id="292" r:id="rId5"/>
    <p:sldId id="284" r:id="rId6"/>
    <p:sldId id="291" r:id="rId7"/>
    <p:sldId id="290" r:id="rId8"/>
    <p:sldId id="285" r:id="rId9"/>
    <p:sldId id="302" r:id="rId10"/>
    <p:sldId id="287" r:id="rId11"/>
    <p:sldId id="303" r:id="rId12"/>
    <p:sldId id="304" r:id="rId13"/>
    <p:sldId id="295" r:id="rId14"/>
    <p:sldId id="297" r:id="rId15"/>
    <p:sldId id="305" r:id="rId16"/>
    <p:sldId id="289" r:id="rId17"/>
    <p:sldId id="293" r:id="rId18"/>
    <p:sldId id="294" r:id="rId19"/>
    <p:sldId id="301" r:id="rId20"/>
    <p:sldId id="296" r:id="rId21"/>
    <p:sldId id="299" r:id="rId22"/>
    <p:sldId id="263" r:id="rId23"/>
  </p:sldIdLst>
  <p:sldSz cx="12192000" cy="6858000"/>
  <p:notesSz cx="6858000" cy="9144000"/>
  <p:embeddedFontLst>
    <p:embeddedFont>
      <p:font typeface="Arial Narrow" panose="020B0606020202030204" pitchFamily="34" charset="0"/>
      <p:regular r:id="rId25"/>
      <p:bold r:id="rId26"/>
      <p:italic r:id="rId27"/>
      <p:boldItalic r:id="rId28"/>
    </p:embeddedFont>
  </p:embeddedFont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E1D29D"/>
    <a:srgbClr val="8D8E3D"/>
    <a:srgbClr val="66787C"/>
    <a:srgbClr val="927B2D"/>
    <a:srgbClr val="80867B"/>
    <a:srgbClr val="D6D7D4"/>
    <a:srgbClr val="A8ACA5"/>
    <a:srgbClr val="C9D2D5"/>
    <a:srgbClr val="98A3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4549A9-E542-469B-80F4-16A95B438295}" v="1378" dt="2026-04-12T16:14:09.660"/>
    <p1510:client id="{BA499724-9365-E97C-798A-2B800E2DA13B}" v="44" dt="2026-04-12T08:57:57.570"/>
    <p1510:client id="{BBE03395-8544-4C0C-850D-8E5B372E01A8}" v="1505" dt="2026-04-12T17:09:57.3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ittlere Formatvorlage 2 - Akz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2418" autoAdjust="0"/>
  </p:normalViewPr>
  <p:slideViewPr>
    <p:cSldViewPr snapToGrid="0">
      <p:cViewPr>
        <p:scale>
          <a:sx n="76" d="100"/>
          <a:sy n="76" d="100"/>
        </p:scale>
        <p:origin x="504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4D1491-ADAA-4FFD-A116-56D17BA8DBB8}" type="datetimeFigureOut">
              <a:rPr lang="de-DE" smtClean="0"/>
              <a:t>12.04.2026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5DFB31-0F00-42EA-B050-9BAE453EAE9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84376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Pia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5DFB31-0F00-42EA-B050-9BAE453EAE95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834731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Pia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5DFB31-0F00-42EA-B050-9BAE453EAE95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26843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Pia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5DFB31-0F00-42EA-B050-9BAE453EAE95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47376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Pia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5DFB31-0F00-42EA-B050-9BAE453EAE95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97450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Pia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5DFB31-0F00-42EA-B050-9BAE453EAE95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40922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Modelle:</a:t>
            </a:r>
          </a:p>
          <a:p>
            <a:r>
              <a:rPr lang="de-DE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qwen3-vl-30b-a3b-instruct</a:t>
            </a:r>
          </a:p>
          <a:p>
            <a:r>
              <a:rPr lang="de-DE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llama-3.1-sauerkrautlm-70b-instruct</a:t>
            </a:r>
            <a:r>
              <a:rPr lang="de-DE">
                <a:effectLst/>
              </a:rPr>
              <a:t> </a:t>
            </a:r>
          </a:p>
          <a:p>
            <a:r>
              <a:rPr lang="de-DE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llama-3.3-70b-instruct (</a:t>
            </a:r>
            <a:r>
              <a:rPr lang="de-DE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Critic</a:t>
            </a:r>
            <a:r>
              <a:rPr lang="de-DE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Modell)</a:t>
            </a:r>
          </a:p>
          <a:p>
            <a:endParaRPr lang="de-DE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Ole</a:t>
            </a:r>
            <a:endParaRPr lang="de-DE">
              <a:effectLst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5DFB31-0F00-42EA-B050-9BAE453EAE95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753790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Ole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5DFB31-0F00-42EA-B050-9BAE453EAE95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299755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Ole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5DFB31-0F00-42EA-B050-9BAE453EAE95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024192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FACA5-F5A6-CE03-691B-533664F56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316B32-C14E-529C-C235-04119788D1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56DCA1-E495-6048-BC6F-3D617B294A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Ole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2B10C4-C319-CE84-F37E-705268391F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5DFB31-0F00-42EA-B050-9BAE453EAE95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256506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Ole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5DFB31-0F00-42EA-B050-9BAE453EAE95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246376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25FFF-1B2E-B0EB-129F-B61208ABE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8158F1-11ED-E0A5-2CC6-036060006B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5B7F63-03A6-473D-F6B0-67516255C1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Ole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C52FBF-789F-5405-9935-2FB6F42D55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5DFB31-0F00-42EA-B050-9BAE453EAE95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5180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7F24A-1099-D743-F4B5-2B76B2F0A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189D09-5335-79D8-F04B-23D32CD228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C96432-4990-CC24-3F6E-AE1F4E970C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Ole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B62315-255E-7F53-C2B3-ACC902C6EB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5DFB31-0F00-42EA-B050-9BAE453EAE95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06762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/>
              <a:t>Intersubjektive Validierung bedeutet, dass mehrere Leute etwas erstellen und das am Ende abgleichen, daraus wird dann eine Masterversion erstellt.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/>
              <a:t>Luca</a:t>
            </a:r>
          </a:p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5DFB31-0F00-42EA-B050-9BAE453EAE95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012615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Luca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5DFB31-0F00-42EA-B050-9BAE453EAE95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17846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9868F-790F-DF04-F47A-C3D499BA3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F7DDA8-D928-9059-D726-DDB7954FA5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A62F71-26D4-4F81-2740-AA28BC1E4E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Luca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E4C942-1562-C8EF-C65D-C25367EF42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5DFB31-0F00-42EA-B050-9BAE453EAE95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52790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Luca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5DFB31-0F00-42EA-B050-9BAE453EAE95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698445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Luca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5DFB31-0F00-42EA-B050-9BAE453EAE95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6957222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Luca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5DFB31-0F00-42EA-B050-9BAE453EAE95}" type="slidenum">
              <a:rPr lang="de-DE" smtClean="0"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978788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Luca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5DFB31-0F00-42EA-B050-9BAE453EAE95}" type="slidenum">
              <a:rPr lang="de-DE" smtClean="0"/>
              <a:t>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325117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Luca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5DFB31-0F00-42EA-B050-9BAE453EAE95}" type="slidenum">
              <a:rPr lang="de-DE" smtClean="0"/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2366573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Luca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5DFB31-0F00-42EA-B050-9BAE453EAE95}" type="slidenum">
              <a:rPr lang="de-DE" smtClean="0"/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94693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9594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ur Fußze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9464" y="6297994"/>
            <a:ext cx="230400" cy="248470"/>
          </a:xfrm>
          <a:prstGeom prst="rect">
            <a:avLst/>
          </a:prstGeom>
        </p:spPr>
      </p:pic>
      <p:sp>
        <p:nvSpPr>
          <p:cNvPr id="10" name="Foliennummernplatzhalter 4"/>
          <p:cNvSpPr>
            <a:spLocks noGrp="1"/>
          </p:cNvSpPr>
          <p:nvPr>
            <p:ph type="sldNum" sz="quarter" idx="12"/>
          </p:nvPr>
        </p:nvSpPr>
        <p:spPr>
          <a:xfrm>
            <a:off x="635000" y="6247866"/>
            <a:ext cx="308044" cy="365125"/>
          </a:xfrm>
        </p:spPr>
        <p:txBody>
          <a:bodyPr lIns="0" rIns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DD7C4DC1-7D02-4994-BD54-74988B047B41}" type="slidenum">
              <a:rPr lang="de-DE" sz="1600" b="1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de-DE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943044" y="6247866"/>
            <a:ext cx="8821845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lang="de-DE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/>
            <a:r>
              <a:rPr lang="de-DE"/>
              <a:t>| PFLICHTENHEFTANALYSE | GRUPPE 2</a:t>
            </a:r>
          </a:p>
        </p:txBody>
      </p:sp>
    </p:spTree>
    <p:extLst>
      <p:ext uri="{BB962C8B-B14F-4D97-AF65-F5344CB8AC3E}">
        <p14:creationId xmlns:p14="http://schemas.microsoft.com/office/powerpoint/2010/main" val="3712009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9464" y="6297994"/>
            <a:ext cx="230400" cy="248470"/>
          </a:xfrm>
          <a:prstGeom prst="rect">
            <a:avLst/>
          </a:prstGeom>
        </p:spPr>
      </p:pic>
      <p:sp>
        <p:nvSpPr>
          <p:cNvPr id="6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638189"/>
            <a:ext cx="10922000" cy="1325563"/>
          </a:xfrm>
        </p:spPr>
        <p:txBody>
          <a:bodyPr lIns="0" tIns="0" rIns="0" bIns="0" anchor="t">
            <a:noAutofit/>
          </a:bodyPr>
          <a:lstStyle>
            <a:lvl1pPr>
              <a:lnSpc>
                <a:spcPts val="3000"/>
              </a:lnSpc>
              <a:defRPr sz="3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Überschrift</a:t>
            </a:r>
          </a:p>
        </p:txBody>
      </p:sp>
      <p:sp>
        <p:nvSpPr>
          <p:cNvPr id="9" name="Textplatzhalter 15"/>
          <p:cNvSpPr>
            <a:spLocks noGrp="1"/>
          </p:cNvSpPr>
          <p:nvPr>
            <p:ph type="body" sz="quarter" idx="11"/>
          </p:nvPr>
        </p:nvSpPr>
        <p:spPr>
          <a:xfrm>
            <a:off x="635000" y="2159000"/>
            <a:ext cx="10922000" cy="3327400"/>
          </a:xfrm>
        </p:spPr>
        <p:txBody>
          <a:bodyPr lIns="0" tIns="0" rIns="0" bIns="0"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2" name="Foliennummernplatzhalter 4"/>
          <p:cNvSpPr>
            <a:spLocks noGrp="1"/>
          </p:cNvSpPr>
          <p:nvPr>
            <p:ph type="sldNum" sz="quarter" idx="12"/>
          </p:nvPr>
        </p:nvSpPr>
        <p:spPr>
          <a:xfrm>
            <a:off x="635000" y="6247866"/>
            <a:ext cx="308044" cy="365125"/>
          </a:xfrm>
        </p:spPr>
        <p:txBody>
          <a:bodyPr lIns="0" rIns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DD7C4DC1-7D02-4994-BD54-74988B047B41}" type="slidenum">
              <a:rPr lang="de-DE" sz="1600" b="1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de-DE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943044" y="6247866"/>
            <a:ext cx="8821845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lang="de-DE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/>
            <a:r>
              <a:rPr lang="de-DE"/>
              <a:t>| PFLICHTENHEFTANALYSE | GRUPPE 2</a:t>
            </a:r>
          </a:p>
        </p:txBody>
      </p:sp>
    </p:spTree>
    <p:extLst>
      <p:ext uri="{BB962C8B-B14F-4D97-AF65-F5344CB8AC3E}">
        <p14:creationId xmlns:p14="http://schemas.microsoft.com/office/powerpoint/2010/main" val="1125237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638189"/>
            <a:ext cx="10934700" cy="1325563"/>
          </a:xfrm>
        </p:spPr>
        <p:txBody>
          <a:bodyPr lIns="0" tIns="0" rIns="0" bIns="0" anchor="t">
            <a:noAutofit/>
          </a:bodyPr>
          <a:lstStyle>
            <a:lvl1pPr>
              <a:lnSpc>
                <a:spcPts val="3000"/>
              </a:lnSpc>
              <a:defRPr sz="3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Überschrift</a:t>
            </a:r>
          </a:p>
        </p:txBody>
      </p:sp>
      <p:sp>
        <p:nvSpPr>
          <p:cNvPr id="16" name="Textplatzhalter 15"/>
          <p:cNvSpPr>
            <a:spLocks noGrp="1"/>
          </p:cNvSpPr>
          <p:nvPr>
            <p:ph type="body" sz="quarter" idx="11"/>
          </p:nvPr>
        </p:nvSpPr>
        <p:spPr>
          <a:xfrm>
            <a:off x="635000" y="2159000"/>
            <a:ext cx="5105400" cy="3327400"/>
          </a:xfrm>
        </p:spPr>
        <p:txBody>
          <a:bodyPr lIns="0" tIns="0" rIns="0" bIns="0"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9464" y="6297994"/>
            <a:ext cx="230400" cy="248470"/>
          </a:xfrm>
          <a:prstGeom prst="rect">
            <a:avLst/>
          </a:prstGeom>
        </p:spPr>
      </p:pic>
      <p:sp>
        <p:nvSpPr>
          <p:cNvPr id="11" name="Textplatzhalter 15"/>
          <p:cNvSpPr>
            <a:spLocks noGrp="1"/>
          </p:cNvSpPr>
          <p:nvPr>
            <p:ph type="body" sz="quarter" idx="13"/>
          </p:nvPr>
        </p:nvSpPr>
        <p:spPr>
          <a:xfrm>
            <a:off x="6464300" y="2159000"/>
            <a:ext cx="5105400" cy="3327400"/>
          </a:xfrm>
        </p:spPr>
        <p:txBody>
          <a:bodyPr lIns="0" tIns="0" rIns="0" bIns="0"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9" name="Foliennummernplatzhalter 4"/>
          <p:cNvSpPr>
            <a:spLocks noGrp="1"/>
          </p:cNvSpPr>
          <p:nvPr>
            <p:ph type="sldNum" sz="quarter" idx="12"/>
          </p:nvPr>
        </p:nvSpPr>
        <p:spPr>
          <a:xfrm>
            <a:off x="635000" y="6247866"/>
            <a:ext cx="308044" cy="365125"/>
          </a:xfrm>
        </p:spPr>
        <p:txBody>
          <a:bodyPr lIns="0" rIns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DD7C4DC1-7D02-4994-BD54-74988B047B41}" type="slidenum">
              <a:rPr lang="de-DE" sz="1600" b="1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de-DE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943044" y="6247866"/>
            <a:ext cx="8821845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lang="de-DE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/>
            <a:r>
              <a:rPr lang="de-DE"/>
              <a:t>| PFLICHTENHEFTANALYSE | GRUPPE 2</a:t>
            </a:r>
          </a:p>
        </p:txBody>
      </p:sp>
    </p:spTree>
    <p:extLst>
      <p:ext uri="{BB962C8B-B14F-4D97-AF65-F5344CB8AC3E}">
        <p14:creationId xmlns:p14="http://schemas.microsoft.com/office/powerpoint/2010/main" val="2029225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9464" y="6297994"/>
            <a:ext cx="230400" cy="248470"/>
          </a:xfrm>
          <a:prstGeom prst="rect">
            <a:avLst/>
          </a:prstGeom>
        </p:spPr>
      </p:pic>
      <p:sp>
        <p:nvSpPr>
          <p:cNvPr id="8" name="Textplatzhalter 3"/>
          <p:cNvSpPr>
            <a:spLocks noGrp="1"/>
          </p:cNvSpPr>
          <p:nvPr>
            <p:ph type="body" sz="quarter" idx="14" hasCustomPrompt="1"/>
          </p:nvPr>
        </p:nvSpPr>
        <p:spPr>
          <a:xfrm>
            <a:off x="6946661" y="4920785"/>
            <a:ext cx="4617953" cy="62206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i="0" u="none">
                <a:solidFill>
                  <a:srgbClr val="949B8F"/>
                </a:solidFill>
              </a:defRPr>
            </a:lvl1pPr>
            <a:lvl2pPr marL="457200" indent="0">
              <a:buNone/>
              <a:defRPr sz="1600" i="0" u="none"/>
            </a:lvl2pPr>
            <a:lvl3pPr marL="914400" indent="0">
              <a:buNone/>
              <a:defRPr sz="1600" i="0" u="none"/>
            </a:lvl3pPr>
            <a:lvl4pPr marL="1371600" indent="0">
              <a:buNone/>
              <a:defRPr sz="1600" i="0" u="none"/>
            </a:lvl4pPr>
            <a:lvl5pPr marL="1828800" indent="0">
              <a:buNone/>
              <a:defRPr sz="1600" i="0" u="none"/>
            </a:lvl5pPr>
          </a:lstStyle>
          <a:p>
            <a:pPr lvl="0"/>
            <a:r>
              <a:rPr lang="de-DE" sz="1600">
                <a:solidFill>
                  <a:srgbClr val="949B8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Bildunterschrift</a:t>
            </a:r>
            <a:endParaRPr lang="de-DE"/>
          </a:p>
        </p:txBody>
      </p:sp>
      <p:sp>
        <p:nvSpPr>
          <p:cNvPr id="9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638189"/>
            <a:ext cx="10922000" cy="1325563"/>
          </a:xfrm>
        </p:spPr>
        <p:txBody>
          <a:bodyPr lIns="0" tIns="0" rIns="0" bIns="0" anchor="t">
            <a:noAutofit/>
          </a:bodyPr>
          <a:lstStyle>
            <a:lvl1pPr>
              <a:lnSpc>
                <a:spcPts val="3000"/>
              </a:lnSpc>
              <a:defRPr sz="3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Überschrift</a:t>
            </a:r>
          </a:p>
        </p:txBody>
      </p:sp>
      <p:sp>
        <p:nvSpPr>
          <p:cNvPr id="10" name="Textplatzhalter 15"/>
          <p:cNvSpPr>
            <a:spLocks noGrp="1"/>
          </p:cNvSpPr>
          <p:nvPr>
            <p:ph type="body" sz="quarter" idx="11"/>
          </p:nvPr>
        </p:nvSpPr>
        <p:spPr>
          <a:xfrm>
            <a:off x="635000" y="2158999"/>
            <a:ext cx="5105400" cy="3383845"/>
          </a:xfrm>
        </p:spPr>
        <p:txBody>
          <a:bodyPr lIns="0" tIns="0" rIns="0" bIns="0"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1" name="Bildplatzhalter 6"/>
          <p:cNvSpPr>
            <a:spLocks noGrp="1"/>
          </p:cNvSpPr>
          <p:nvPr>
            <p:ph type="pic" sz="quarter" idx="16"/>
          </p:nvPr>
        </p:nvSpPr>
        <p:spPr>
          <a:xfrm>
            <a:off x="6946661" y="2205883"/>
            <a:ext cx="4617953" cy="257121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4" name="Foliennummernplatzhalter 4"/>
          <p:cNvSpPr>
            <a:spLocks noGrp="1"/>
          </p:cNvSpPr>
          <p:nvPr>
            <p:ph type="sldNum" sz="quarter" idx="12"/>
          </p:nvPr>
        </p:nvSpPr>
        <p:spPr>
          <a:xfrm>
            <a:off x="635000" y="6247866"/>
            <a:ext cx="308044" cy="365125"/>
          </a:xfrm>
        </p:spPr>
        <p:txBody>
          <a:bodyPr lIns="0" rIns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DD7C4DC1-7D02-4994-BD54-74988B047B41}" type="slidenum">
              <a:rPr lang="de-DE" sz="1600" b="1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de-DE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943044" y="6247866"/>
            <a:ext cx="8821845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lang="de-DE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/>
            <a:r>
              <a:rPr lang="de-DE"/>
              <a:t>| PFLICHTENHEFTANALYSE | GRUPPE 2</a:t>
            </a:r>
          </a:p>
        </p:txBody>
      </p:sp>
    </p:spTree>
    <p:extLst>
      <p:ext uri="{BB962C8B-B14F-4D97-AF65-F5344CB8AC3E}">
        <p14:creationId xmlns:p14="http://schemas.microsoft.com/office/powerpoint/2010/main" val="1337845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und 2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638189"/>
            <a:ext cx="10921999" cy="1325563"/>
          </a:xfrm>
        </p:spPr>
        <p:txBody>
          <a:bodyPr lIns="0" tIns="0" rIns="0" bIns="0" anchor="t">
            <a:noAutofit/>
          </a:bodyPr>
          <a:lstStyle>
            <a:lvl1pPr>
              <a:lnSpc>
                <a:spcPts val="3000"/>
              </a:lnSpc>
              <a:defRPr sz="3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Überschrift</a:t>
            </a:r>
          </a:p>
        </p:txBody>
      </p:sp>
      <p:sp>
        <p:nvSpPr>
          <p:cNvPr id="7" name="Bildplatzhalter 6"/>
          <p:cNvSpPr>
            <a:spLocks noGrp="1"/>
          </p:cNvSpPr>
          <p:nvPr>
            <p:ph type="pic" sz="quarter" idx="10"/>
          </p:nvPr>
        </p:nvSpPr>
        <p:spPr>
          <a:xfrm>
            <a:off x="6950075" y="2209800"/>
            <a:ext cx="2743200" cy="152400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6" name="Textplatzhalter 15"/>
          <p:cNvSpPr>
            <a:spLocks noGrp="1"/>
          </p:cNvSpPr>
          <p:nvPr>
            <p:ph type="body" sz="quarter" idx="11"/>
          </p:nvPr>
        </p:nvSpPr>
        <p:spPr>
          <a:xfrm>
            <a:off x="635000" y="2159000"/>
            <a:ext cx="5105400" cy="3327400"/>
          </a:xfrm>
        </p:spPr>
        <p:txBody>
          <a:bodyPr lIns="0" tIns="0" rIns="0" bIns="0"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9464" y="6297994"/>
            <a:ext cx="230400" cy="248470"/>
          </a:xfrm>
          <a:prstGeom prst="rect">
            <a:avLst/>
          </a:prstGeom>
        </p:spPr>
      </p:pic>
      <p:sp>
        <p:nvSpPr>
          <p:cNvPr id="9" name="Bildplatzhalter 6"/>
          <p:cNvSpPr>
            <a:spLocks noGrp="1"/>
          </p:cNvSpPr>
          <p:nvPr>
            <p:ph type="pic" sz="quarter" idx="13"/>
          </p:nvPr>
        </p:nvSpPr>
        <p:spPr>
          <a:xfrm>
            <a:off x="6950075" y="3857625"/>
            <a:ext cx="2743200" cy="152400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4" hasCustomPrompt="1"/>
          </p:nvPr>
        </p:nvSpPr>
        <p:spPr>
          <a:xfrm>
            <a:off x="9788525" y="2209800"/>
            <a:ext cx="1768475" cy="15240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i="0" u="none">
                <a:solidFill>
                  <a:srgbClr val="949B8F"/>
                </a:solidFill>
              </a:defRPr>
            </a:lvl1pPr>
            <a:lvl2pPr marL="457200" indent="0">
              <a:buNone/>
              <a:defRPr sz="1600" i="0" u="none"/>
            </a:lvl2pPr>
            <a:lvl3pPr marL="914400" indent="0">
              <a:buNone/>
              <a:defRPr sz="1600" i="0" u="none"/>
            </a:lvl3pPr>
            <a:lvl4pPr marL="1371600" indent="0">
              <a:buNone/>
              <a:defRPr sz="1600" i="0" u="none"/>
            </a:lvl4pPr>
            <a:lvl5pPr marL="1828800" indent="0">
              <a:buNone/>
              <a:defRPr sz="1600" i="0" u="none"/>
            </a:lvl5pPr>
          </a:lstStyle>
          <a:p>
            <a:pPr lvl="0"/>
            <a:r>
              <a:rPr lang="de-DE" sz="1600">
                <a:solidFill>
                  <a:srgbClr val="949B8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Bildunterschrift</a:t>
            </a:r>
            <a:endParaRPr lang="de-DE"/>
          </a:p>
        </p:txBody>
      </p:sp>
      <p:sp>
        <p:nvSpPr>
          <p:cNvPr id="10" name="Textplatzhalter 3"/>
          <p:cNvSpPr>
            <a:spLocks noGrp="1"/>
          </p:cNvSpPr>
          <p:nvPr>
            <p:ph type="body" sz="quarter" idx="15" hasCustomPrompt="1"/>
          </p:nvPr>
        </p:nvSpPr>
        <p:spPr>
          <a:xfrm>
            <a:off x="9788524" y="3857625"/>
            <a:ext cx="1768475" cy="15240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i="0" u="none">
                <a:solidFill>
                  <a:srgbClr val="949B8F"/>
                </a:solidFill>
              </a:defRPr>
            </a:lvl1pPr>
            <a:lvl2pPr marL="457200" indent="0">
              <a:buNone/>
              <a:defRPr sz="1600" i="0" u="none"/>
            </a:lvl2pPr>
            <a:lvl3pPr marL="914400" indent="0">
              <a:buNone/>
              <a:defRPr sz="1600" i="0" u="none"/>
            </a:lvl3pPr>
            <a:lvl4pPr marL="1371600" indent="0">
              <a:buNone/>
              <a:defRPr sz="1600" i="0" u="none"/>
            </a:lvl4pPr>
            <a:lvl5pPr marL="1828800" indent="0">
              <a:buNone/>
              <a:defRPr sz="1600" i="0" u="none"/>
            </a:lvl5pPr>
          </a:lstStyle>
          <a:p>
            <a:pPr lvl="0"/>
            <a:r>
              <a:rPr lang="de-DE" sz="1600">
                <a:solidFill>
                  <a:srgbClr val="949B8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Bildunterschrift</a:t>
            </a:r>
            <a:endParaRPr lang="de-DE"/>
          </a:p>
        </p:txBody>
      </p:sp>
      <p:sp>
        <p:nvSpPr>
          <p:cNvPr id="14" name="Foliennummernplatzhalter 4"/>
          <p:cNvSpPr>
            <a:spLocks noGrp="1"/>
          </p:cNvSpPr>
          <p:nvPr>
            <p:ph type="sldNum" sz="quarter" idx="12"/>
          </p:nvPr>
        </p:nvSpPr>
        <p:spPr>
          <a:xfrm>
            <a:off x="635000" y="6247866"/>
            <a:ext cx="308044" cy="365125"/>
          </a:xfrm>
        </p:spPr>
        <p:txBody>
          <a:bodyPr lIns="0" rIns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DD7C4DC1-7D02-4994-BD54-74988B047B41}" type="slidenum">
              <a:rPr lang="de-DE" sz="1600" b="1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de-DE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943044" y="6247866"/>
            <a:ext cx="8821845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lang="de-DE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/>
            <a:r>
              <a:rPr lang="de-DE"/>
              <a:t>| PFLICHTENHEFTANALYSE | GRUPPE 2</a:t>
            </a:r>
          </a:p>
        </p:txBody>
      </p:sp>
    </p:spTree>
    <p:extLst>
      <p:ext uri="{BB962C8B-B14F-4D97-AF65-F5344CB8AC3E}">
        <p14:creationId xmlns:p14="http://schemas.microsoft.com/office/powerpoint/2010/main" val="1422041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9464" y="6297994"/>
            <a:ext cx="230400" cy="248470"/>
          </a:xfrm>
          <a:prstGeom prst="rect">
            <a:avLst/>
          </a:prstGeom>
        </p:spPr>
      </p:pic>
      <p:sp>
        <p:nvSpPr>
          <p:cNvPr id="13" name="Inhaltsplatzhalter 12"/>
          <p:cNvSpPr>
            <a:spLocks noGrp="1"/>
          </p:cNvSpPr>
          <p:nvPr>
            <p:ph sz="quarter" idx="13" hasCustomPrompt="1"/>
          </p:nvPr>
        </p:nvSpPr>
        <p:spPr>
          <a:xfrm>
            <a:off x="635000" y="2159419"/>
            <a:ext cx="5378940" cy="2982841"/>
          </a:xfrm>
        </p:spPr>
        <p:txBody>
          <a:bodyPr lIns="0" tIns="0" rIns="0" bIns="0"/>
          <a:lstStyle>
            <a:lvl1pPr marL="0" indent="0">
              <a:buNone/>
              <a:defRPr/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Klicken Sie zum Einfügen eines Bildes oder einer Grafik bitte auf ein Symbol</a:t>
            </a:r>
          </a:p>
        </p:txBody>
      </p:sp>
      <p:sp>
        <p:nvSpPr>
          <p:cNvPr id="14" name="Inhaltsplatzhalter 12"/>
          <p:cNvSpPr>
            <a:spLocks noGrp="1"/>
          </p:cNvSpPr>
          <p:nvPr>
            <p:ph sz="quarter" idx="14" hasCustomPrompt="1"/>
          </p:nvPr>
        </p:nvSpPr>
        <p:spPr>
          <a:xfrm>
            <a:off x="6178059" y="2159419"/>
            <a:ext cx="5378940" cy="2982841"/>
          </a:xfr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/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Klicken Sie zum Einfügen eines Bildes oder einer Grafik bitte auf ein Symbol</a:t>
            </a:r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638189"/>
            <a:ext cx="10921999" cy="1325563"/>
          </a:xfrm>
        </p:spPr>
        <p:txBody>
          <a:bodyPr lIns="0" tIns="0" rIns="0" bIns="0" anchor="t">
            <a:noAutofit/>
          </a:bodyPr>
          <a:lstStyle>
            <a:lvl1pPr>
              <a:lnSpc>
                <a:spcPts val="3000"/>
              </a:lnSpc>
              <a:defRPr sz="3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Überschrift</a:t>
            </a:r>
          </a:p>
        </p:txBody>
      </p:sp>
      <p:sp>
        <p:nvSpPr>
          <p:cNvPr id="8" name="Textplatzhalter 3"/>
          <p:cNvSpPr>
            <a:spLocks noGrp="1"/>
          </p:cNvSpPr>
          <p:nvPr>
            <p:ph type="body" sz="quarter" idx="15" hasCustomPrompt="1"/>
          </p:nvPr>
        </p:nvSpPr>
        <p:spPr>
          <a:xfrm>
            <a:off x="635000" y="5236980"/>
            <a:ext cx="5378940" cy="62206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i="0" u="none">
                <a:solidFill>
                  <a:srgbClr val="949B8F"/>
                </a:solidFill>
              </a:defRPr>
            </a:lvl1pPr>
            <a:lvl2pPr marL="457200" indent="0">
              <a:buNone/>
              <a:defRPr sz="1600" i="0" u="none"/>
            </a:lvl2pPr>
            <a:lvl3pPr marL="914400" indent="0">
              <a:buNone/>
              <a:defRPr sz="1600" i="0" u="none"/>
            </a:lvl3pPr>
            <a:lvl4pPr marL="1371600" indent="0">
              <a:buNone/>
              <a:defRPr sz="1600" i="0" u="none"/>
            </a:lvl4pPr>
            <a:lvl5pPr marL="1828800" indent="0">
              <a:buNone/>
              <a:defRPr sz="1600" i="0" u="none"/>
            </a:lvl5pPr>
          </a:lstStyle>
          <a:p>
            <a:pPr lvl="0"/>
            <a:r>
              <a:rPr lang="de-DE" sz="1600">
                <a:solidFill>
                  <a:srgbClr val="949B8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Bildunterschrift</a:t>
            </a:r>
            <a:endParaRPr lang="de-DE"/>
          </a:p>
        </p:txBody>
      </p:sp>
      <p:sp>
        <p:nvSpPr>
          <p:cNvPr id="11" name="Textplatzhalter 3"/>
          <p:cNvSpPr>
            <a:spLocks noGrp="1"/>
          </p:cNvSpPr>
          <p:nvPr>
            <p:ph type="body" sz="quarter" idx="16" hasCustomPrompt="1"/>
          </p:nvPr>
        </p:nvSpPr>
        <p:spPr>
          <a:xfrm>
            <a:off x="6178059" y="5236980"/>
            <a:ext cx="5378940" cy="62206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i="0" u="none">
                <a:solidFill>
                  <a:srgbClr val="949B8F"/>
                </a:solidFill>
              </a:defRPr>
            </a:lvl1pPr>
            <a:lvl2pPr marL="457200" indent="0">
              <a:buNone/>
              <a:defRPr sz="1600" i="0" u="none"/>
            </a:lvl2pPr>
            <a:lvl3pPr marL="914400" indent="0">
              <a:buNone/>
              <a:defRPr sz="1600" i="0" u="none"/>
            </a:lvl3pPr>
            <a:lvl4pPr marL="1371600" indent="0">
              <a:buNone/>
              <a:defRPr sz="1600" i="0" u="none"/>
            </a:lvl4pPr>
            <a:lvl5pPr marL="1828800" indent="0">
              <a:buNone/>
              <a:defRPr sz="1600" i="0" u="none"/>
            </a:lvl5pPr>
          </a:lstStyle>
          <a:p>
            <a:pPr lvl="0"/>
            <a:r>
              <a:rPr lang="de-DE" sz="1600">
                <a:solidFill>
                  <a:srgbClr val="949B8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Bildunterschrift</a:t>
            </a:r>
            <a:endParaRPr lang="de-DE"/>
          </a:p>
        </p:txBody>
      </p:sp>
      <p:sp>
        <p:nvSpPr>
          <p:cNvPr id="16" name="Foliennummernplatzhalter 4"/>
          <p:cNvSpPr>
            <a:spLocks noGrp="1"/>
          </p:cNvSpPr>
          <p:nvPr>
            <p:ph type="sldNum" sz="quarter" idx="12"/>
          </p:nvPr>
        </p:nvSpPr>
        <p:spPr>
          <a:xfrm>
            <a:off x="635000" y="6247866"/>
            <a:ext cx="308044" cy="365125"/>
          </a:xfrm>
        </p:spPr>
        <p:txBody>
          <a:bodyPr lIns="0" rIns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DD7C4DC1-7D02-4994-BD54-74988B047B41}" type="slidenum">
              <a:rPr lang="de-DE" sz="1600" b="1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de-DE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943044" y="6247866"/>
            <a:ext cx="8821845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lang="de-DE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/>
            <a:r>
              <a:rPr lang="de-DE"/>
              <a:t>| PFLICHTENHEFTANALYSE | GRUPPE 2</a:t>
            </a:r>
          </a:p>
        </p:txBody>
      </p:sp>
    </p:spTree>
    <p:extLst>
      <p:ext uri="{BB962C8B-B14F-4D97-AF65-F5344CB8AC3E}">
        <p14:creationId xmlns:p14="http://schemas.microsoft.com/office/powerpoint/2010/main" val="1982420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9464" y="6297994"/>
            <a:ext cx="230400" cy="248470"/>
          </a:xfrm>
          <a:prstGeom prst="rect">
            <a:avLst/>
          </a:prstGeom>
        </p:spPr>
      </p:pic>
      <p:sp>
        <p:nvSpPr>
          <p:cNvPr id="18" name="Inhaltsplatzhalter 12"/>
          <p:cNvSpPr>
            <a:spLocks noGrp="1"/>
          </p:cNvSpPr>
          <p:nvPr>
            <p:ph sz="quarter" idx="16" hasCustomPrompt="1"/>
          </p:nvPr>
        </p:nvSpPr>
        <p:spPr>
          <a:xfrm>
            <a:off x="639153" y="2159418"/>
            <a:ext cx="3532971" cy="1963213"/>
          </a:xfrm>
        </p:spPr>
        <p:txBody>
          <a:bodyPr lIns="0" tIns="0" rIns="0" bIns="0"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aseline="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de-DE"/>
              <a:t>Klicken Sie zum Einfügen eines Bildes oder einer Grafik bitte auf ein Symbol</a:t>
            </a:r>
          </a:p>
        </p:txBody>
      </p:sp>
      <p:sp>
        <p:nvSpPr>
          <p:cNvPr id="19" name="Inhaltsplatzhalter 12"/>
          <p:cNvSpPr>
            <a:spLocks noGrp="1"/>
          </p:cNvSpPr>
          <p:nvPr>
            <p:ph sz="quarter" idx="17" hasCustomPrompt="1"/>
          </p:nvPr>
        </p:nvSpPr>
        <p:spPr>
          <a:xfrm>
            <a:off x="4330818" y="2158354"/>
            <a:ext cx="3532971" cy="1963213"/>
          </a:xfrm>
        </p:spPr>
        <p:txBody>
          <a:bodyPr lIns="0" tIns="0" rIns="0" bIns="0"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de-DE"/>
              <a:t>Klicken Sie zum Einfügen eines Bildes oder einer Grafik bitte auf ein Symbol</a:t>
            </a:r>
          </a:p>
        </p:txBody>
      </p:sp>
      <p:sp>
        <p:nvSpPr>
          <p:cNvPr id="20" name="Inhaltsplatzhalter 12"/>
          <p:cNvSpPr>
            <a:spLocks noGrp="1"/>
          </p:cNvSpPr>
          <p:nvPr>
            <p:ph sz="quarter" idx="18" hasCustomPrompt="1"/>
          </p:nvPr>
        </p:nvSpPr>
        <p:spPr>
          <a:xfrm>
            <a:off x="8022483" y="2158354"/>
            <a:ext cx="3532971" cy="1963213"/>
          </a:xfrm>
        </p:spPr>
        <p:txBody>
          <a:bodyPr lIns="0" tIns="0" rIns="0" bIns="0"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de-DE"/>
              <a:t>Klicken Sie zum Einfügen eines Bildes oder einer Grafik bitte auf ein Symbol</a:t>
            </a:r>
          </a:p>
        </p:txBody>
      </p:sp>
      <p:sp>
        <p:nvSpPr>
          <p:cNvPr id="9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638189"/>
            <a:ext cx="10921999" cy="1325563"/>
          </a:xfrm>
        </p:spPr>
        <p:txBody>
          <a:bodyPr lIns="0" tIns="0" rIns="0" bIns="0" anchor="t">
            <a:noAutofit/>
          </a:bodyPr>
          <a:lstStyle>
            <a:lvl1pPr>
              <a:lnSpc>
                <a:spcPts val="3000"/>
              </a:lnSpc>
              <a:defRPr sz="3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Überschrift</a:t>
            </a:r>
          </a:p>
        </p:txBody>
      </p:sp>
      <p:sp>
        <p:nvSpPr>
          <p:cNvPr id="8" name="Textplatzhalter 3"/>
          <p:cNvSpPr>
            <a:spLocks noGrp="1"/>
          </p:cNvSpPr>
          <p:nvPr>
            <p:ph type="body" sz="quarter" idx="15" hasCustomPrompt="1"/>
          </p:nvPr>
        </p:nvSpPr>
        <p:spPr>
          <a:xfrm>
            <a:off x="635000" y="4305487"/>
            <a:ext cx="3537124" cy="62206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i="0" u="none">
                <a:solidFill>
                  <a:srgbClr val="949B8F"/>
                </a:solidFill>
              </a:defRPr>
            </a:lvl1pPr>
            <a:lvl2pPr marL="457200" indent="0">
              <a:buNone/>
              <a:defRPr sz="1600" i="0" u="none"/>
            </a:lvl2pPr>
            <a:lvl3pPr marL="914400" indent="0">
              <a:buNone/>
              <a:defRPr sz="1600" i="0" u="none"/>
            </a:lvl3pPr>
            <a:lvl4pPr marL="1371600" indent="0">
              <a:buNone/>
              <a:defRPr sz="1600" i="0" u="none"/>
            </a:lvl4pPr>
            <a:lvl5pPr marL="1828800" indent="0">
              <a:buNone/>
              <a:defRPr sz="1600" i="0" u="none"/>
            </a:lvl5pPr>
          </a:lstStyle>
          <a:p>
            <a:pPr lvl="0"/>
            <a:r>
              <a:rPr lang="de-DE" sz="1600">
                <a:solidFill>
                  <a:srgbClr val="949B8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Bildunterschrift</a:t>
            </a:r>
            <a:endParaRPr lang="de-DE"/>
          </a:p>
        </p:txBody>
      </p:sp>
      <p:sp>
        <p:nvSpPr>
          <p:cNvPr id="10" name="Textplatzhalter 3"/>
          <p:cNvSpPr>
            <a:spLocks noGrp="1"/>
          </p:cNvSpPr>
          <p:nvPr>
            <p:ph type="body" sz="quarter" idx="19" hasCustomPrompt="1"/>
          </p:nvPr>
        </p:nvSpPr>
        <p:spPr>
          <a:xfrm>
            <a:off x="4330817" y="4305487"/>
            <a:ext cx="3532971" cy="62206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i="0" u="none">
                <a:solidFill>
                  <a:srgbClr val="949B8F"/>
                </a:solidFill>
              </a:defRPr>
            </a:lvl1pPr>
            <a:lvl2pPr marL="457200" indent="0">
              <a:buNone/>
              <a:defRPr sz="1600" i="0" u="none"/>
            </a:lvl2pPr>
            <a:lvl3pPr marL="914400" indent="0">
              <a:buNone/>
              <a:defRPr sz="1600" i="0" u="none"/>
            </a:lvl3pPr>
            <a:lvl4pPr marL="1371600" indent="0">
              <a:buNone/>
              <a:defRPr sz="1600" i="0" u="none"/>
            </a:lvl4pPr>
            <a:lvl5pPr marL="1828800" indent="0">
              <a:buNone/>
              <a:defRPr sz="1600" i="0" u="none"/>
            </a:lvl5pPr>
          </a:lstStyle>
          <a:p>
            <a:pPr lvl="0"/>
            <a:r>
              <a:rPr lang="de-DE" sz="1600">
                <a:solidFill>
                  <a:srgbClr val="949B8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Bildunterschrift</a:t>
            </a:r>
            <a:endParaRPr lang="de-DE"/>
          </a:p>
        </p:txBody>
      </p:sp>
      <p:sp>
        <p:nvSpPr>
          <p:cNvPr id="11" name="Textplatzhalter 3"/>
          <p:cNvSpPr>
            <a:spLocks noGrp="1"/>
          </p:cNvSpPr>
          <p:nvPr>
            <p:ph type="body" sz="quarter" idx="20" hasCustomPrompt="1"/>
          </p:nvPr>
        </p:nvSpPr>
        <p:spPr>
          <a:xfrm>
            <a:off x="8022483" y="4305487"/>
            <a:ext cx="3532972" cy="62206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i="0" u="none">
                <a:solidFill>
                  <a:srgbClr val="949B8F"/>
                </a:solidFill>
              </a:defRPr>
            </a:lvl1pPr>
            <a:lvl2pPr marL="457200" indent="0">
              <a:buNone/>
              <a:defRPr sz="1600" i="0" u="none"/>
            </a:lvl2pPr>
            <a:lvl3pPr marL="914400" indent="0">
              <a:buNone/>
              <a:defRPr sz="1600" i="0" u="none"/>
            </a:lvl3pPr>
            <a:lvl4pPr marL="1371600" indent="0">
              <a:buNone/>
              <a:defRPr sz="1600" i="0" u="none"/>
            </a:lvl4pPr>
            <a:lvl5pPr marL="1828800" indent="0">
              <a:buNone/>
              <a:defRPr sz="1600" i="0" u="none"/>
            </a:lvl5pPr>
          </a:lstStyle>
          <a:p>
            <a:pPr lvl="0"/>
            <a:r>
              <a:rPr lang="de-DE" sz="1600">
                <a:solidFill>
                  <a:srgbClr val="949B8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Bildunterschrift</a:t>
            </a:r>
            <a:endParaRPr lang="de-DE"/>
          </a:p>
        </p:txBody>
      </p:sp>
      <p:sp>
        <p:nvSpPr>
          <p:cNvPr id="14" name="Foliennummernplatzhalter 4"/>
          <p:cNvSpPr>
            <a:spLocks noGrp="1"/>
          </p:cNvSpPr>
          <p:nvPr>
            <p:ph type="sldNum" sz="quarter" idx="12"/>
          </p:nvPr>
        </p:nvSpPr>
        <p:spPr>
          <a:xfrm>
            <a:off x="635000" y="6247866"/>
            <a:ext cx="308044" cy="365125"/>
          </a:xfrm>
        </p:spPr>
        <p:txBody>
          <a:bodyPr lIns="0" rIns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DD7C4DC1-7D02-4994-BD54-74988B047B41}" type="slidenum">
              <a:rPr lang="de-DE" sz="1600" b="1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de-DE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943044" y="6247866"/>
            <a:ext cx="8821845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lang="de-DE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/>
            <a:r>
              <a:rPr lang="de-DE"/>
              <a:t>| PFLICHTENHEFTANALYSE | GRUPPE 2</a:t>
            </a:r>
          </a:p>
        </p:txBody>
      </p:sp>
    </p:spTree>
    <p:extLst>
      <p:ext uri="{BB962C8B-B14F-4D97-AF65-F5344CB8AC3E}">
        <p14:creationId xmlns:p14="http://schemas.microsoft.com/office/powerpoint/2010/main" val="26685364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l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33767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de-DE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| PFLICHTENHEFTANALYSE | GRUPPE 2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de-DE" sz="1600" smtClean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D7C4DC1-7D02-4994-BD54-74988B047B41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Rechteck 6"/>
          <p:cNvSpPr/>
          <p:nvPr userDrawn="1"/>
        </p:nvSpPr>
        <p:spPr>
          <a:xfrm>
            <a:off x="-1" y="-1"/>
            <a:ext cx="12192001" cy="6858001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49020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5" r:id="rId2"/>
    <p:sldLayoutId id="2147483654" r:id="rId3"/>
    <p:sldLayoutId id="2147483662" r:id="rId4"/>
    <p:sldLayoutId id="2147483656" r:id="rId5"/>
    <p:sldLayoutId id="2147483661" r:id="rId6"/>
    <p:sldLayoutId id="2147483658" r:id="rId7"/>
    <p:sldLayoutId id="2147483659" r:id="rId8"/>
    <p:sldLayoutId id="2147483657" r:id="rId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kern="1200" cap="all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55600" indent="-355600" algn="l" defTabSz="914400" rtl="0" eaLnBrk="1" latinLnBrk="0" hangingPunct="1">
        <a:lnSpc>
          <a:spcPct val="90000"/>
        </a:lnSpc>
        <a:spcBef>
          <a:spcPts val="1000"/>
        </a:spcBef>
        <a:buSzPct val="90000"/>
        <a:buFont typeface="Symbol" panose="05050102010706020507" pitchFamily="18" charset="2"/>
        <a:buChar char="¾"/>
        <a:defRPr sz="2400" kern="1200">
          <a:solidFill>
            <a:schemeClr val="tx1"/>
          </a:solidFill>
          <a:latin typeface="Arial Narrow" panose="020B0606020202030204" pitchFamily="34" charset="0"/>
          <a:ea typeface="+mn-ea"/>
          <a:cs typeface="+mn-cs"/>
        </a:defRPr>
      </a:lvl1pPr>
      <a:lvl2pPr marL="812800" indent="-355600" algn="l" defTabSz="914400" rtl="0" eaLnBrk="1" latinLnBrk="0" hangingPunct="1">
        <a:lnSpc>
          <a:spcPct val="90000"/>
        </a:lnSpc>
        <a:spcBef>
          <a:spcPts val="500"/>
        </a:spcBef>
        <a:buSzPct val="90000"/>
        <a:buFont typeface="Symbol" panose="05050102010706020507" pitchFamily="18" charset="2"/>
        <a:buChar char="¾"/>
        <a:defRPr sz="2400" kern="1200">
          <a:solidFill>
            <a:schemeClr val="tx1"/>
          </a:solidFill>
          <a:latin typeface="Arial Narrow" panose="020B0606020202030204" pitchFamily="34" charset="0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SzPct val="90000"/>
        <a:buFont typeface="Symbol" panose="05050102010706020507" pitchFamily="18" charset="2"/>
        <a:buChar char="¾"/>
        <a:defRPr sz="2400" kern="1200">
          <a:solidFill>
            <a:schemeClr val="tx1"/>
          </a:solidFill>
          <a:latin typeface="Arial Narrow" panose="020B0606020202030204" pitchFamily="34" charset="0"/>
          <a:ea typeface="+mn-ea"/>
          <a:cs typeface="+mn-cs"/>
        </a:defRPr>
      </a:lvl3pPr>
      <a:lvl4pPr marL="1701800" indent="-330200" algn="l" defTabSz="914400" rtl="0" eaLnBrk="1" latinLnBrk="0" hangingPunct="1">
        <a:lnSpc>
          <a:spcPct val="90000"/>
        </a:lnSpc>
        <a:spcBef>
          <a:spcPts val="500"/>
        </a:spcBef>
        <a:buSzPct val="90000"/>
        <a:buFont typeface="Symbol" panose="05050102010706020507" pitchFamily="18" charset="2"/>
        <a:buChar char="¾"/>
        <a:defRPr sz="2400" kern="1200">
          <a:solidFill>
            <a:schemeClr val="tx1"/>
          </a:solidFill>
          <a:latin typeface="Arial Narrow" panose="020B0606020202030204" pitchFamily="34" charset="0"/>
          <a:ea typeface="+mn-ea"/>
          <a:cs typeface="+mn-cs"/>
        </a:defRPr>
      </a:lvl4pPr>
      <a:lvl5pPr marL="2159000" indent="-330200" algn="l" defTabSz="914400" rtl="0" eaLnBrk="1" latinLnBrk="0" hangingPunct="1">
        <a:lnSpc>
          <a:spcPct val="90000"/>
        </a:lnSpc>
        <a:spcBef>
          <a:spcPts val="500"/>
        </a:spcBef>
        <a:buSzPct val="90000"/>
        <a:buFont typeface="Symbol" panose="05050102010706020507" pitchFamily="18" charset="2"/>
        <a:buChar char="¾"/>
        <a:defRPr sz="2400" kern="1200">
          <a:solidFill>
            <a:schemeClr val="tx1"/>
          </a:solidFill>
          <a:latin typeface="Arial Narrow" panose="020B060602020203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sv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82483"/>
            <a:ext cx="12192000" cy="4680961"/>
          </a:xfrm>
          <a:prstGeom prst="rect">
            <a:avLst/>
          </a:prstGeom>
        </p:spPr>
      </p:pic>
      <p:sp>
        <p:nvSpPr>
          <p:cNvPr id="12" name="Rechteck 11"/>
          <p:cNvSpPr/>
          <p:nvPr/>
        </p:nvSpPr>
        <p:spPr>
          <a:xfrm>
            <a:off x="545177" y="2389194"/>
            <a:ext cx="6631800" cy="612097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/>
          <p:cNvSpPr/>
          <p:nvPr/>
        </p:nvSpPr>
        <p:spPr>
          <a:xfrm>
            <a:off x="9308752" y="2083790"/>
            <a:ext cx="2257200" cy="100800"/>
          </a:xfrm>
          <a:prstGeom prst="rect">
            <a:avLst/>
          </a:prstGeom>
          <a:solidFill>
            <a:srgbClr val="7B0E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extfeld 1"/>
          <p:cNvSpPr txBox="1"/>
          <p:nvPr/>
        </p:nvSpPr>
        <p:spPr>
          <a:xfrm>
            <a:off x="550025" y="613559"/>
            <a:ext cx="11409405" cy="10926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900"/>
              </a:lnSpc>
            </a:pPr>
            <a:r>
              <a:rPr lang="de-DE" sz="4000" b="1" cap="all">
                <a:latin typeface="Arial" panose="020B0604020202020204" pitchFamily="34" charset="0"/>
                <a:cs typeface="Arial" panose="020B0604020202020204" pitchFamily="34" charset="0"/>
              </a:rPr>
              <a:t>Automatisierte Pflichtenheftanalyse</a:t>
            </a:r>
          </a:p>
          <a:p>
            <a:pPr>
              <a:lnSpc>
                <a:spcPts val="3900"/>
              </a:lnSpc>
            </a:pPr>
            <a:r>
              <a:rPr lang="de-DE" sz="4000" cap="all">
                <a:latin typeface="Arial" panose="020B0604020202020204" pitchFamily="34" charset="0"/>
                <a:cs typeface="Arial" panose="020B0604020202020204" pitchFamily="34" charset="0"/>
              </a:rPr>
              <a:t>Vergleich von RAG &amp; </a:t>
            </a:r>
            <a:r>
              <a:rPr lang="de-DE" sz="4000" cap="all" err="1">
                <a:latin typeface="Arial" panose="020B0604020202020204" pitchFamily="34" charset="0"/>
                <a:cs typeface="Arial" panose="020B0604020202020204" pitchFamily="34" charset="0"/>
              </a:rPr>
              <a:t>llm</a:t>
            </a:r>
            <a:endParaRPr lang="de-DE" sz="4000" cap="all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hteck 8"/>
          <p:cNvSpPr/>
          <p:nvPr/>
        </p:nvSpPr>
        <p:spPr>
          <a:xfrm>
            <a:off x="9308752" y="5440908"/>
            <a:ext cx="2257200" cy="14293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/>
          <p:cNvSpPr/>
          <p:nvPr/>
        </p:nvSpPr>
        <p:spPr>
          <a:xfrm>
            <a:off x="547083" y="6081924"/>
            <a:ext cx="6817278" cy="365125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1352" y="5860933"/>
            <a:ext cx="1692000" cy="589287"/>
          </a:xfrm>
          <a:prstGeom prst="rect">
            <a:avLst/>
          </a:prstGeom>
        </p:spPr>
      </p:pic>
      <p:sp>
        <p:nvSpPr>
          <p:cNvPr id="5" name="Textfeld 4"/>
          <p:cNvSpPr txBox="1"/>
          <p:nvPr/>
        </p:nvSpPr>
        <p:spPr>
          <a:xfrm>
            <a:off x="545177" y="2395997"/>
            <a:ext cx="6706228" cy="5849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de-DE" sz="1500" b="1" dirty="0">
                <a:latin typeface="Arial" panose="020B0604020202020204" pitchFamily="34" charset="0"/>
                <a:cs typeface="Arial" panose="020B0604020202020204" pitchFamily="34" charset="0"/>
              </a:rPr>
              <a:t>Automatisierte Anforderungsextraktion aus Pflichtenheften:</a:t>
            </a:r>
          </a:p>
          <a:p>
            <a:pPr>
              <a:lnSpc>
                <a:spcPts val="2000"/>
              </a:lnSpc>
            </a:pPr>
            <a:r>
              <a:rPr lang="de-DE" sz="1500" dirty="0">
                <a:latin typeface="Arial" panose="020B0604020202020204" pitchFamily="34" charset="0"/>
                <a:cs typeface="Arial" panose="020B0604020202020204" pitchFamily="34" charset="0"/>
              </a:rPr>
              <a:t>Ein Vergleich zwischen einer RAG-basierten und zweistufigen LLM-Methode</a:t>
            </a:r>
          </a:p>
        </p:txBody>
      </p:sp>
      <p:sp>
        <p:nvSpPr>
          <p:cNvPr id="10" name="Textfeld 9"/>
          <p:cNvSpPr txBox="1"/>
          <p:nvPr/>
        </p:nvSpPr>
        <p:spPr>
          <a:xfrm>
            <a:off x="724769" y="6125986"/>
            <a:ext cx="7052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Pia Voigtländer, Irina </a:t>
            </a:r>
            <a:r>
              <a:rPr lang="de-DE" sz="1200" dirty="0" err="1">
                <a:latin typeface="Arial" panose="020B0604020202020204" pitchFamily="34" charset="0"/>
                <a:cs typeface="Arial" panose="020B0604020202020204" pitchFamily="34" charset="0"/>
              </a:rPr>
              <a:t>Kireeva</a:t>
            </a: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, Raphael Wohlers , Luca Russek, Jan Ole Trosin, Mika </a:t>
            </a:r>
            <a:r>
              <a:rPr lang="de-DE" sz="1200" dirty="0" err="1">
                <a:latin typeface="Arial" panose="020B0604020202020204" pitchFamily="34" charset="0"/>
                <a:cs typeface="Arial" panose="020B0604020202020204" pitchFamily="34" charset="0"/>
              </a:rPr>
              <a:t>Wettstaedt</a:t>
            </a:r>
            <a:endParaRPr lang="de-DE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Grafik 1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139" y="6183526"/>
            <a:ext cx="144000" cy="130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8368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Team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>
          <a:xfrm>
            <a:off x="635000" y="6247866"/>
            <a:ext cx="308044" cy="365125"/>
          </a:xfrm>
        </p:spPr>
        <p:txBody>
          <a:bodyPr lIns="0" rIns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DD7C4DC1-7D02-4994-BD54-74988B047B41}" type="slidenum">
              <a:rPr lang="de-DE" sz="1600" b="1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2</a:t>
            </a:fld>
            <a:endParaRPr lang="de-DE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943044" y="6247866"/>
            <a:ext cx="8821845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lang="de-DE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/>
            <a:r>
              <a:rPr lang="de-DE"/>
              <a:t>| PFLICHTENHEFTANALYSE | GRUPPE 2</a:t>
            </a:r>
          </a:p>
        </p:txBody>
      </p:sp>
      <p:graphicFrame>
        <p:nvGraphicFramePr>
          <p:cNvPr id="2" name="Tabelle 1">
            <a:extLst>
              <a:ext uri="{FF2B5EF4-FFF2-40B4-BE49-F238E27FC236}">
                <a16:creationId xmlns:a16="http://schemas.microsoft.com/office/drawing/2014/main" id="{2BBBAB0D-D207-2F98-487A-811B196F10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8020572"/>
              </p:ext>
            </p:extLst>
          </p:nvPr>
        </p:nvGraphicFramePr>
        <p:xfrm>
          <a:off x="42529" y="2391380"/>
          <a:ext cx="12106941" cy="20752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729563">
                  <a:extLst>
                    <a:ext uri="{9D8B030D-6E8A-4147-A177-3AD203B41FA5}">
                      <a16:colId xmlns:a16="http://schemas.microsoft.com/office/drawing/2014/main" val="2022497030"/>
                    </a:ext>
                  </a:extLst>
                </a:gridCol>
                <a:gridCol w="1729563">
                  <a:extLst>
                    <a:ext uri="{9D8B030D-6E8A-4147-A177-3AD203B41FA5}">
                      <a16:colId xmlns:a16="http://schemas.microsoft.com/office/drawing/2014/main" val="3183042459"/>
                    </a:ext>
                  </a:extLst>
                </a:gridCol>
                <a:gridCol w="1729563">
                  <a:extLst>
                    <a:ext uri="{9D8B030D-6E8A-4147-A177-3AD203B41FA5}">
                      <a16:colId xmlns:a16="http://schemas.microsoft.com/office/drawing/2014/main" val="3224668836"/>
                    </a:ext>
                  </a:extLst>
                </a:gridCol>
                <a:gridCol w="1729563">
                  <a:extLst>
                    <a:ext uri="{9D8B030D-6E8A-4147-A177-3AD203B41FA5}">
                      <a16:colId xmlns:a16="http://schemas.microsoft.com/office/drawing/2014/main" val="108241591"/>
                    </a:ext>
                  </a:extLst>
                </a:gridCol>
                <a:gridCol w="1729563">
                  <a:extLst>
                    <a:ext uri="{9D8B030D-6E8A-4147-A177-3AD203B41FA5}">
                      <a16:colId xmlns:a16="http://schemas.microsoft.com/office/drawing/2014/main" val="1492959609"/>
                    </a:ext>
                  </a:extLst>
                </a:gridCol>
                <a:gridCol w="1729563">
                  <a:extLst>
                    <a:ext uri="{9D8B030D-6E8A-4147-A177-3AD203B41FA5}">
                      <a16:colId xmlns:a16="http://schemas.microsoft.com/office/drawing/2014/main" val="2828127347"/>
                    </a:ext>
                  </a:extLst>
                </a:gridCol>
                <a:gridCol w="1729563">
                  <a:extLst>
                    <a:ext uri="{9D8B030D-6E8A-4147-A177-3AD203B41FA5}">
                      <a16:colId xmlns:a16="http://schemas.microsoft.com/office/drawing/2014/main" val="33314840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Vorname</a:t>
                      </a:r>
                      <a:br>
                        <a:rPr lang="de-DE"/>
                      </a:br>
                      <a:r>
                        <a:rPr lang="de-DE"/>
                        <a:t>Nachname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Pia</a:t>
                      </a:r>
                      <a:br>
                        <a:rPr lang="de-DE"/>
                      </a:br>
                      <a:r>
                        <a:rPr lang="de-DE"/>
                        <a:t>Voigtländer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Irina</a:t>
                      </a:r>
                      <a:br>
                        <a:rPr lang="de-DE"/>
                      </a:br>
                      <a:r>
                        <a:rPr lang="de-DE" err="1"/>
                        <a:t>Kireeva</a:t>
                      </a:r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Raphael</a:t>
                      </a:r>
                      <a:br>
                        <a:rPr lang="de-DE"/>
                      </a:br>
                      <a:r>
                        <a:rPr lang="de-DE"/>
                        <a:t>Wohlers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Luca</a:t>
                      </a:r>
                      <a:br>
                        <a:rPr lang="de-DE"/>
                      </a:br>
                      <a:r>
                        <a:rPr lang="de-DE"/>
                        <a:t>Russek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Jan Ole</a:t>
                      </a:r>
                      <a:br>
                        <a:rPr lang="de-DE"/>
                      </a:br>
                      <a:r>
                        <a:rPr lang="de-DE" err="1"/>
                        <a:t>Trosin</a:t>
                      </a:r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Mika</a:t>
                      </a:r>
                      <a:br>
                        <a:rPr lang="de-DE"/>
                      </a:br>
                      <a:r>
                        <a:rPr lang="de-DE"/>
                        <a:t>Wettstaedt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98687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Matrikel-nummer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3048228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3047015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3047464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4006090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4006102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3047261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5691399"/>
                  </a:ext>
                </a:extLst>
              </a:tr>
              <a:tr h="795080">
                <a:tc>
                  <a:txBody>
                    <a:bodyPr/>
                    <a:lstStyle/>
                    <a:p>
                      <a:r>
                        <a:rPr lang="de-DE"/>
                        <a:t>Kontakt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400" err="1"/>
                        <a:t>Pia.Voigtlaender</a:t>
                      </a:r>
                      <a:br>
                        <a:rPr lang="de-DE" sz="1400"/>
                      </a:br>
                      <a:r>
                        <a:rPr lang="de-DE" sz="1400"/>
                        <a:t>@</a:t>
                      </a:r>
                      <a:r>
                        <a:rPr lang="de-DE" sz="1400" err="1"/>
                        <a:t>stud.leuphana.de</a:t>
                      </a:r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e-DE" sz="1400" kern="1200" err="1">
                          <a:solidFill>
                            <a:schemeClr val="dk1"/>
                          </a:solidFill>
                        </a:rPr>
                        <a:t>Irina.Kireeva</a:t>
                      </a:r>
                      <a:br>
                        <a:rPr lang="de-DE" sz="1400" kern="1200">
                          <a:solidFill>
                            <a:schemeClr val="dk1"/>
                          </a:solidFill>
                        </a:rPr>
                      </a:br>
                      <a:r>
                        <a:rPr lang="de-DE" sz="1400"/>
                        <a:t>@</a:t>
                      </a:r>
                      <a:r>
                        <a:rPr lang="de-DE" sz="1400" err="1"/>
                        <a:t>stud.leuphana.de</a:t>
                      </a:r>
                      <a:endParaRPr lang="de-DE" sz="14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e-DE" sz="1400" kern="1200" err="1">
                          <a:solidFill>
                            <a:schemeClr val="dk1"/>
                          </a:solidFill>
                        </a:rPr>
                        <a:t>Raphael.Wohlers</a:t>
                      </a:r>
                      <a:br>
                        <a:rPr lang="de-DE" sz="1400" kern="1200">
                          <a:solidFill>
                            <a:schemeClr val="dk1"/>
                          </a:solidFill>
                        </a:rPr>
                      </a:br>
                      <a:r>
                        <a:rPr lang="de-DE" sz="1400"/>
                        <a:t>@</a:t>
                      </a:r>
                      <a:r>
                        <a:rPr lang="de-DE" sz="1400" err="1"/>
                        <a:t>stud.leuphana.de</a:t>
                      </a:r>
                      <a:endParaRPr lang="de-DE" sz="14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e-DE" sz="1400" kern="1200" err="1">
                          <a:solidFill>
                            <a:schemeClr val="dk1"/>
                          </a:solidFill>
                        </a:rPr>
                        <a:t>Luca.Russek</a:t>
                      </a:r>
                      <a:br>
                        <a:rPr lang="de-DE" sz="1400" kern="1200">
                          <a:solidFill>
                            <a:schemeClr val="dk1"/>
                          </a:solidFill>
                        </a:rPr>
                      </a:br>
                      <a:r>
                        <a:rPr lang="de-DE" sz="1400"/>
                        <a:t>@</a:t>
                      </a:r>
                      <a:r>
                        <a:rPr lang="de-DE" sz="1400" err="1"/>
                        <a:t>stud.leuphana.de</a:t>
                      </a:r>
                      <a:endParaRPr lang="de-DE" sz="14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e-DE" sz="1400" kern="1200" err="1">
                          <a:solidFill>
                            <a:schemeClr val="dk1"/>
                          </a:solidFill>
                        </a:rPr>
                        <a:t>Jan.O.Trosin</a:t>
                      </a:r>
                      <a:br>
                        <a:rPr lang="de-DE" sz="1400" kern="1200">
                          <a:solidFill>
                            <a:schemeClr val="dk1"/>
                          </a:solidFill>
                        </a:rPr>
                      </a:br>
                      <a:r>
                        <a:rPr lang="de-DE" sz="1400"/>
                        <a:t>@</a:t>
                      </a:r>
                      <a:r>
                        <a:rPr lang="de-DE" sz="1400" err="1"/>
                        <a:t>stud.leuphana.de</a:t>
                      </a:r>
                      <a:endParaRPr lang="de-DE" sz="14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e-DE" sz="1400" kern="1200" err="1">
                          <a:solidFill>
                            <a:schemeClr val="dk1"/>
                          </a:solidFill>
                        </a:rPr>
                        <a:t>Mika.Wettstaedt</a:t>
                      </a:r>
                      <a:br>
                        <a:rPr lang="de-DE" sz="1400" kern="1200">
                          <a:solidFill>
                            <a:schemeClr val="dk1"/>
                          </a:solidFill>
                        </a:rPr>
                      </a:br>
                      <a:r>
                        <a:rPr lang="de-DE" sz="1400"/>
                        <a:t>@</a:t>
                      </a:r>
                      <a:r>
                        <a:rPr lang="de-DE" sz="1400" err="1"/>
                        <a:t>stud.leuphana.de</a:t>
                      </a:r>
                      <a:endParaRPr lang="de-DE" sz="14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3652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9322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AGENDA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1"/>
          </p:nvPr>
        </p:nvSpPr>
        <p:spPr>
          <a:xfrm>
            <a:off x="635000" y="2158999"/>
            <a:ext cx="10922000" cy="3829205"/>
          </a:xfrm>
        </p:spPr>
        <p:txBody>
          <a:bodyPr>
            <a:noAutofit/>
          </a:bodyPr>
          <a:lstStyle/>
          <a:p>
            <a:pPr marL="342900" indent="-342900">
              <a:lnSpc>
                <a:spcPts val="2200"/>
              </a:lnSpc>
              <a:buSzPct val="70000"/>
              <a:buFont typeface="Symbol" pitchFamily="2" charset="2"/>
              <a:buChar char="-"/>
            </a:pPr>
            <a:r>
              <a:rPr lang="de-DE" dirty="0">
                <a:cs typeface="Arial" panose="020B0604020202020204" pitchFamily="34" charset="0"/>
              </a:rPr>
              <a:t>Aufgabenstellung</a:t>
            </a:r>
          </a:p>
          <a:p>
            <a:pPr marL="342900" indent="-342900">
              <a:lnSpc>
                <a:spcPts val="2200"/>
              </a:lnSpc>
              <a:buSzPct val="70000"/>
              <a:buFont typeface="Symbol" pitchFamily="2" charset="2"/>
              <a:buChar char="-"/>
            </a:pPr>
            <a:r>
              <a:rPr lang="de-DE" dirty="0">
                <a:cs typeface="Arial" panose="020B0604020202020204" pitchFamily="34" charset="0"/>
              </a:rPr>
              <a:t>Zielsetzung</a:t>
            </a:r>
          </a:p>
          <a:p>
            <a:pPr marL="342900" indent="-342900">
              <a:lnSpc>
                <a:spcPts val="2200"/>
              </a:lnSpc>
              <a:buSzPct val="70000"/>
              <a:buFont typeface="Symbol" pitchFamily="2" charset="2"/>
              <a:buChar char="-"/>
            </a:pPr>
            <a:r>
              <a:rPr lang="de-DE" dirty="0">
                <a:cs typeface="Arial" panose="020B0604020202020204" pitchFamily="34" charset="0"/>
              </a:rPr>
              <a:t>Voreinstellungen</a:t>
            </a:r>
          </a:p>
          <a:p>
            <a:pPr marL="342900" indent="-342900">
              <a:lnSpc>
                <a:spcPts val="2200"/>
              </a:lnSpc>
              <a:buSzPct val="70000"/>
              <a:buFont typeface="Symbol" pitchFamily="2" charset="2"/>
              <a:buChar char="-"/>
            </a:pPr>
            <a:r>
              <a:rPr lang="de-DE" dirty="0">
                <a:cs typeface="Arial" panose="020B0604020202020204" pitchFamily="34" charset="0"/>
              </a:rPr>
              <a:t>Schematische Übersicht der Ansätze</a:t>
            </a:r>
          </a:p>
          <a:p>
            <a:pPr marL="342900" indent="-342900">
              <a:lnSpc>
                <a:spcPts val="2200"/>
              </a:lnSpc>
              <a:buSzPct val="70000"/>
              <a:buFont typeface="Symbol" pitchFamily="2" charset="2"/>
              <a:buChar char="-"/>
            </a:pPr>
            <a:r>
              <a:rPr lang="de-DE" dirty="0">
                <a:cs typeface="Arial" panose="020B0604020202020204" pitchFamily="34" charset="0"/>
              </a:rPr>
              <a:t>Methodik der Ansätze und Bewertung</a:t>
            </a:r>
          </a:p>
          <a:p>
            <a:pPr marL="342900" indent="-342900">
              <a:lnSpc>
                <a:spcPts val="2200"/>
              </a:lnSpc>
              <a:buSzPct val="70000"/>
              <a:buFont typeface="Symbol" pitchFamily="2" charset="2"/>
              <a:buChar char="-"/>
            </a:pPr>
            <a:r>
              <a:rPr lang="de-DE" dirty="0">
                <a:cs typeface="Arial" panose="020B0604020202020204" pitchFamily="34" charset="0"/>
              </a:rPr>
              <a:t>Ergebnisse &amp; Vergleich der Ansätze</a:t>
            </a:r>
          </a:p>
          <a:p>
            <a:pPr marL="342900" indent="-342900">
              <a:lnSpc>
                <a:spcPts val="2200"/>
              </a:lnSpc>
              <a:buSzPct val="70000"/>
              <a:buFont typeface="Symbol" pitchFamily="2" charset="2"/>
              <a:buChar char="-"/>
            </a:pPr>
            <a:r>
              <a:rPr lang="de-DE" dirty="0">
                <a:cs typeface="Arial" panose="020B0604020202020204" pitchFamily="34" charset="0"/>
              </a:rPr>
              <a:t>Limitationen &amp; Ausblick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>
          <a:xfrm>
            <a:off x="635000" y="6247866"/>
            <a:ext cx="308044" cy="365125"/>
          </a:xfrm>
        </p:spPr>
        <p:txBody>
          <a:bodyPr lIns="0" rIns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DD7C4DC1-7D02-4994-BD54-74988B047B41}" type="slidenum">
              <a:rPr lang="de-DE" sz="1600" b="1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3</a:t>
            </a:fld>
            <a:endParaRPr lang="de-DE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943044" y="6247866"/>
            <a:ext cx="8821845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lang="de-DE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/>
            <a:r>
              <a:rPr lang="de-DE"/>
              <a:t>| PFLICHTENHEFTANALYSE | GRUPPE 2</a:t>
            </a:r>
          </a:p>
        </p:txBody>
      </p:sp>
    </p:spTree>
    <p:extLst>
      <p:ext uri="{BB962C8B-B14F-4D97-AF65-F5344CB8AC3E}">
        <p14:creationId xmlns:p14="http://schemas.microsoft.com/office/powerpoint/2010/main" val="9310554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158AA0-210A-E37F-6C14-B9AD3B472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Aufgabenstellung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898C1B2-214B-F20C-3FF2-800738F04E3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5000" y="1765300"/>
            <a:ext cx="6247581" cy="3327400"/>
          </a:xfrm>
        </p:spPr>
        <p:txBody>
          <a:bodyPr>
            <a:normAutofit lnSpcReduction="10000"/>
          </a:bodyPr>
          <a:lstStyle/>
          <a:p>
            <a:pPr algn="just"/>
            <a:r>
              <a:rPr lang="de-DE" dirty="0"/>
              <a:t>Sie sind ein Systemintegrator für Lagerlogistik und haben für den Bau eines automatisierten </a:t>
            </a:r>
            <a:r>
              <a:rPr lang="de-DE" b="1" dirty="0"/>
              <a:t>Schmalganghochregallagers</a:t>
            </a:r>
            <a:r>
              <a:rPr lang="de-DE" dirty="0"/>
              <a:t> ein Angebot verfasst, welches angenommen wurde. Um dieses Angebot umzusetzen, benötigt ihre Produktentwicklung eine </a:t>
            </a:r>
            <a:r>
              <a:rPr lang="de-DE" b="1" dirty="0"/>
              <a:t>ISO-konforme Anforderungsliste</a:t>
            </a:r>
            <a:r>
              <a:rPr lang="de-DE" dirty="0"/>
              <a:t>. Erstellen Sie eine </a:t>
            </a:r>
            <a:r>
              <a:rPr lang="de-DE" b="1" dirty="0"/>
              <a:t>LLM-basierte Lösung</a:t>
            </a:r>
            <a:r>
              <a:rPr lang="de-DE" dirty="0"/>
              <a:t>, die aus dem Angebot eine solche Liste erstellt. Dabei soll jeder Anforderung eine der vier </a:t>
            </a:r>
            <a:r>
              <a:rPr lang="de-DE" b="1" dirty="0"/>
              <a:t>Standardmethoden zur Validierung </a:t>
            </a:r>
            <a:r>
              <a:rPr lang="de-DE" dirty="0"/>
              <a:t>(Inspektion, Analyse, Demonstration, Test) zugeordnet und ein konkreter </a:t>
            </a:r>
            <a:r>
              <a:rPr lang="de-DE" b="1" dirty="0"/>
              <a:t>Umsetzungsvorschlag</a:t>
            </a:r>
            <a:r>
              <a:rPr lang="de-DE" dirty="0"/>
              <a:t> gemacht werden.</a:t>
            </a:r>
          </a:p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E4A41D1-9BED-EB23-1124-2FC9749EA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C4DC1-7D02-4994-BD54-74988B047B41}" type="slidenum">
              <a:rPr lang="de-DE" sz="1600" b="1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4</a:t>
            </a:fld>
            <a:endParaRPr lang="de-DE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0D62923-932C-939A-8550-76C51EDD6A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l"/>
            <a:r>
              <a:rPr lang="de-DE"/>
              <a:t>| PFLICHTENHEFTANALYSE | GRUPPE 2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B7618D8-3371-E3A6-D2FF-190B3FAE10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4463" y="462114"/>
            <a:ext cx="3875943" cy="5569975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229300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E8F9A8-1087-921F-1920-C60477615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Zielsetzung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4180DA5-4587-1FD5-B787-C01D44FDB1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5000" y="2159000"/>
            <a:ext cx="7299632" cy="3327400"/>
          </a:xfrm>
        </p:spPr>
        <p:txBody>
          <a:bodyPr vert="horz" lIns="0" tIns="0" rIns="0" bIns="0" rtlCol="0" anchor="t">
            <a:normAutofit/>
          </a:bodyPr>
          <a:lstStyle/>
          <a:p>
            <a:pPr marL="342900" indent="-342900">
              <a:buFont typeface="Symbol" pitchFamily="2" charset="2"/>
              <a:buChar char="-"/>
            </a:pPr>
            <a:r>
              <a:rPr lang="de-DE" dirty="0"/>
              <a:t>Automatische Generierung ISO konformer Anforderungen</a:t>
            </a:r>
          </a:p>
          <a:p>
            <a:pPr marL="342900" indent="-342900">
              <a:buFont typeface="Symbol" pitchFamily="2" charset="2"/>
              <a:buChar char="-"/>
            </a:pPr>
            <a:r>
              <a:rPr lang="de-DE" dirty="0"/>
              <a:t>Entwicklung eines Problemlösungsansatzes basierend auf einer doppelstufigen LLM sowie einer RAG basierten Methode </a:t>
            </a:r>
          </a:p>
          <a:p>
            <a:pPr marL="342900" indent="-342900">
              <a:buFont typeface="Symbol" pitchFamily="2" charset="2"/>
              <a:buChar char="-"/>
            </a:pPr>
            <a:r>
              <a:rPr lang="de-DE" dirty="0">
                <a:latin typeface="Arial Narrow"/>
              </a:rPr>
              <a:t>Vergleich und Bewertung der Ergebnisse beider Ansätze anhand ausgewählter Kriterien</a:t>
            </a:r>
          </a:p>
          <a:p>
            <a:pPr marL="342900" indent="-342900">
              <a:buFont typeface="Symbol" pitchFamily="2" charset="2"/>
              <a:buChar char="-"/>
            </a:pPr>
            <a:r>
              <a:rPr lang="de-DE" dirty="0">
                <a:latin typeface="Arial Narrow"/>
              </a:rPr>
              <a:t>Evaluierung der lückenlose Rückverfolgbarkeit bei der Anforderungsgenerierung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D3DBB37-7EEF-F3EC-DE25-86F619DE7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C4DC1-7D02-4994-BD54-74988B047B41}" type="slidenum">
              <a:rPr lang="de-DE" sz="1600" b="1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5</a:t>
            </a:fld>
            <a:endParaRPr lang="de-DE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30DFBF6-E4C3-71C3-2AB3-3D31A24EE8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l"/>
            <a:r>
              <a:rPr lang="de-DE"/>
              <a:t>| PFLICHTENHEFTANALYSE | GRUPPE 2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183CAB4-D3E5-45EB-EB99-3CF00B03D0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8942" y="1963752"/>
            <a:ext cx="2898058" cy="2898058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441702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3EEB4C-85DF-BA5E-521D-D5D6DB513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Voreinstellungen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9A2D10A-68BF-B858-E34B-9602940FC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C4DC1-7D02-4994-BD54-74988B047B41}" type="slidenum">
              <a:rPr lang="de-DE" sz="1600" b="1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6</a:t>
            </a:fld>
            <a:endParaRPr lang="de-DE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B4C61B9-A1B4-DE9B-1190-A4AB16AFCA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l"/>
            <a:r>
              <a:rPr lang="de-DE"/>
              <a:t>| PFLICHTENHEFTANALYSE | GRUPPE 2</a:t>
            </a:r>
          </a:p>
        </p:txBody>
      </p:sp>
      <p:sp>
        <p:nvSpPr>
          <p:cNvPr id="8" name="Freihandform 7">
            <a:extLst>
              <a:ext uri="{FF2B5EF4-FFF2-40B4-BE49-F238E27FC236}">
                <a16:creationId xmlns:a16="http://schemas.microsoft.com/office/drawing/2014/main" id="{04D40B9A-3D77-82DA-B6A1-D0168D296406}"/>
              </a:ext>
            </a:extLst>
          </p:cNvPr>
          <p:cNvSpPr/>
          <p:nvPr/>
        </p:nvSpPr>
        <p:spPr>
          <a:xfrm>
            <a:off x="1874907" y="1222099"/>
            <a:ext cx="1716114" cy="519465"/>
          </a:xfrm>
          <a:custGeom>
            <a:avLst/>
            <a:gdLst>
              <a:gd name="csX0" fmla="*/ 0 w 1716114"/>
              <a:gd name="csY0" fmla="*/ 0 h 519465"/>
              <a:gd name="csX1" fmla="*/ 1716114 w 1716114"/>
              <a:gd name="csY1" fmla="*/ 0 h 519465"/>
              <a:gd name="csX2" fmla="*/ 1716114 w 1716114"/>
              <a:gd name="csY2" fmla="*/ 519465 h 519465"/>
              <a:gd name="csX3" fmla="*/ 0 w 1716114"/>
              <a:gd name="csY3" fmla="*/ 519465 h 519465"/>
              <a:gd name="csX4" fmla="*/ 0 w 1716114"/>
              <a:gd name="csY4" fmla="*/ 0 h 5194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16114" h="519465">
                <a:moveTo>
                  <a:pt x="0" y="0"/>
                </a:moveTo>
                <a:lnTo>
                  <a:pt x="1716114" y="0"/>
                </a:lnTo>
                <a:lnTo>
                  <a:pt x="1716114" y="519465"/>
                </a:lnTo>
                <a:lnTo>
                  <a:pt x="0" y="51946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06680" tIns="60960" rIns="106680" bIns="60960" numCol="1" spcCol="1270" anchor="ctr" anchorCtr="0">
            <a:noAutofit/>
          </a:bodyPr>
          <a:lstStyle/>
          <a:p>
            <a:pPr marL="0" lvl="0" indent="0" algn="ctr" defTabSz="66675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500" kern="1200"/>
              <a:t>Multimodales PDF-</a:t>
            </a:r>
            <a:r>
              <a:rPr lang="de-DE" sz="1500" kern="1200" err="1"/>
              <a:t>Parsing</a:t>
            </a:r>
            <a:endParaRPr lang="de-DE" sz="1500" kern="1200"/>
          </a:p>
        </p:txBody>
      </p:sp>
      <p:sp>
        <p:nvSpPr>
          <p:cNvPr id="9" name="Freihandform 8">
            <a:extLst>
              <a:ext uri="{FF2B5EF4-FFF2-40B4-BE49-F238E27FC236}">
                <a16:creationId xmlns:a16="http://schemas.microsoft.com/office/drawing/2014/main" id="{B0805E96-9A1A-D842-C18A-2490774EDD41}"/>
              </a:ext>
            </a:extLst>
          </p:cNvPr>
          <p:cNvSpPr/>
          <p:nvPr/>
        </p:nvSpPr>
        <p:spPr>
          <a:xfrm>
            <a:off x="1095153" y="1741565"/>
            <a:ext cx="3189768" cy="1984713"/>
          </a:xfrm>
          <a:custGeom>
            <a:avLst/>
            <a:gdLst>
              <a:gd name="csX0" fmla="*/ 0 w 1716114"/>
              <a:gd name="csY0" fmla="*/ 0 h 2107645"/>
              <a:gd name="csX1" fmla="*/ 1716114 w 1716114"/>
              <a:gd name="csY1" fmla="*/ 0 h 2107645"/>
              <a:gd name="csX2" fmla="*/ 1716114 w 1716114"/>
              <a:gd name="csY2" fmla="*/ 2107645 h 2107645"/>
              <a:gd name="csX3" fmla="*/ 0 w 1716114"/>
              <a:gd name="csY3" fmla="*/ 2107645 h 2107645"/>
              <a:gd name="csX4" fmla="*/ 0 w 1716114"/>
              <a:gd name="csY4" fmla="*/ 0 h 210764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16114" h="2107645">
                <a:moveTo>
                  <a:pt x="0" y="0"/>
                </a:moveTo>
                <a:lnTo>
                  <a:pt x="1716114" y="0"/>
                </a:lnTo>
                <a:lnTo>
                  <a:pt x="1716114" y="2107645"/>
                </a:lnTo>
                <a:lnTo>
                  <a:pt x="0" y="210764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0010" tIns="80010" rIns="106680" bIns="120015" numCol="1" spcCol="1270" anchor="t" anchorCtr="0">
            <a:noAutofit/>
          </a:bodyPr>
          <a:lstStyle/>
          <a:p>
            <a:pPr marL="114300" lvl="1" indent="-114300" algn="l" defTabSz="666750" rtl="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de-DE" sz="1400" b="0" kern="1200" err="1"/>
              <a:t>PyMuPDF</a:t>
            </a:r>
            <a:r>
              <a:rPr lang="de-DE" sz="1400" b="0" kern="1200"/>
              <a:t>	(Texte)</a:t>
            </a:r>
          </a:p>
          <a:p>
            <a:pPr marL="114300" lvl="1" indent="-114300" algn="l" defTabSz="666750" rtl="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de-DE" sz="1400" b="0" kern="1200" err="1"/>
              <a:t>Pdfplumber</a:t>
            </a:r>
            <a:r>
              <a:rPr lang="de-DE" sz="1400" b="0" kern="1200"/>
              <a:t>	(Tabellen)</a:t>
            </a:r>
          </a:p>
          <a:p>
            <a:pPr marL="114300" lvl="1" indent="-114300" defTabSz="6667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Tx/>
              <a:buChar char="•"/>
            </a:pPr>
            <a:r>
              <a:rPr lang="de-DE" sz="1400" b="0" kern="1200" err="1"/>
              <a:t>Qwen</a:t>
            </a:r>
            <a:r>
              <a:rPr lang="de-DE" sz="1400" b="0" kern="1200"/>
              <a:t> VL	(Skizzen)</a:t>
            </a:r>
            <a:r>
              <a:rPr lang="de-DE" sz="1400"/>
              <a:t> </a:t>
            </a:r>
          </a:p>
          <a:p>
            <a:pPr marL="114300" lvl="1" indent="-114300" defTabSz="6667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Tx/>
              <a:buChar char="•"/>
            </a:pPr>
            <a:r>
              <a:rPr lang="de-DE" sz="1400"/>
              <a:t>Labelgenerierung für die Chunks</a:t>
            </a:r>
          </a:p>
          <a:p>
            <a:pPr marL="114300" lvl="1" indent="-114300" algn="l" defTabSz="666750" rtl="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endParaRPr lang="de-DE" sz="1400" b="0" kern="1200"/>
          </a:p>
        </p:txBody>
      </p:sp>
      <p:sp>
        <p:nvSpPr>
          <p:cNvPr id="10" name="Freihandform 9">
            <a:extLst>
              <a:ext uri="{FF2B5EF4-FFF2-40B4-BE49-F238E27FC236}">
                <a16:creationId xmlns:a16="http://schemas.microsoft.com/office/drawing/2014/main" id="{114FA31E-AE73-754A-E247-CCA2D2964959}"/>
              </a:ext>
            </a:extLst>
          </p:cNvPr>
          <p:cNvSpPr/>
          <p:nvPr/>
        </p:nvSpPr>
        <p:spPr>
          <a:xfrm>
            <a:off x="5117816" y="1222099"/>
            <a:ext cx="1716114" cy="519465"/>
          </a:xfrm>
          <a:custGeom>
            <a:avLst/>
            <a:gdLst>
              <a:gd name="csX0" fmla="*/ 0 w 1716114"/>
              <a:gd name="csY0" fmla="*/ 0 h 519465"/>
              <a:gd name="csX1" fmla="*/ 1716114 w 1716114"/>
              <a:gd name="csY1" fmla="*/ 0 h 519465"/>
              <a:gd name="csX2" fmla="*/ 1716114 w 1716114"/>
              <a:gd name="csY2" fmla="*/ 519465 h 519465"/>
              <a:gd name="csX3" fmla="*/ 0 w 1716114"/>
              <a:gd name="csY3" fmla="*/ 519465 h 519465"/>
              <a:gd name="csX4" fmla="*/ 0 w 1716114"/>
              <a:gd name="csY4" fmla="*/ 0 h 5194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16114" h="519465">
                <a:moveTo>
                  <a:pt x="0" y="0"/>
                </a:moveTo>
                <a:lnTo>
                  <a:pt x="1716114" y="0"/>
                </a:lnTo>
                <a:lnTo>
                  <a:pt x="1716114" y="519465"/>
                </a:lnTo>
                <a:lnTo>
                  <a:pt x="0" y="51946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06680" tIns="60960" rIns="106680" bIns="60960" numCol="1" spcCol="1270" anchor="ctr" anchorCtr="0">
            <a:noAutofit/>
          </a:bodyPr>
          <a:lstStyle/>
          <a:p>
            <a:pPr marL="0" lvl="0" indent="0" algn="ctr" defTabSz="66675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500" kern="1200"/>
              <a:t>Chunking</a:t>
            </a:r>
          </a:p>
        </p:txBody>
      </p:sp>
      <p:sp>
        <p:nvSpPr>
          <p:cNvPr id="11" name="Freihandform 10">
            <a:extLst>
              <a:ext uri="{FF2B5EF4-FFF2-40B4-BE49-F238E27FC236}">
                <a16:creationId xmlns:a16="http://schemas.microsoft.com/office/drawing/2014/main" id="{6B9E1DF9-C451-4654-8455-F9457BCC16DD}"/>
              </a:ext>
            </a:extLst>
          </p:cNvPr>
          <p:cNvSpPr/>
          <p:nvPr/>
        </p:nvSpPr>
        <p:spPr>
          <a:xfrm>
            <a:off x="4370775" y="1741565"/>
            <a:ext cx="3189768" cy="1984713"/>
          </a:xfrm>
          <a:custGeom>
            <a:avLst/>
            <a:gdLst>
              <a:gd name="csX0" fmla="*/ 0 w 1716114"/>
              <a:gd name="csY0" fmla="*/ 0 h 2107645"/>
              <a:gd name="csX1" fmla="*/ 1716114 w 1716114"/>
              <a:gd name="csY1" fmla="*/ 0 h 2107645"/>
              <a:gd name="csX2" fmla="*/ 1716114 w 1716114"/>
              <a:gd name="csY2" fmla="*/ 2107645 h 2107645"/>
              <a:gd name="csX3" fmla="*/ 0 w 1716114"/>
              <a:gd name="csY3" fmla="*/ 2107645 h 2107645"/>
              <a:gd name="csX4" fmla="*/ 0 w 1716114"/>
              <a:gd name="csY4" fmla="*/ 0 h 210764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16114" h="2107645">
                <a:moveTo>
                  <a:pt x="0" y="0"/>
                </a:moveTo>
                <a:lnTo>
                  <a:pt x="1716114" y="0"/>
                </a:lnTo>
                <a:lnTo>
                  <a:pt x="1716114" y="2107645"/>
                </a:lnTo>
                <a:lnTo>
                  <a:pt x="0" y="210764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0010" tIns="80010" rIns="106680" bIns="120015" numCol="1" spcCol="1270" anchor="t" anchorCtr="0">
            <a:noAutofit/>
          </a:bodyPr>
          <a:lstStyle/>
          <a:p>
            <a:pPr marL="114300" lvl="1" indent="-114300" algn="l" defTabSz="666750" rtl="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de-DE" sz="1400" kern="1200"/>
              <a:t>NLP-Bibliothek </a:t>
            </a:r>
            <a:r>
              <a:rPr lang="de-DE" sz="1400" kern="1200" err="1"/>
              <a:t>spaCy</a:t>
            </a:r>
            <a:endParaRPr lang="de-DE" sz="1400" kern="1200"/>
          </a:p>
          <a:p>
            <a:pPr marL="114300" lvl="1" indent="-114300" algn="l" defTabSz="666750" rtl="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de-DE" sz="1400" kern="1200"/>
              <a:t>Chunks bestehen aus vollständigen Sätzen </a:t>
            </a:r>
          </a:p>
          <a:p>
            <a:pPr marL="114300" lvl="1" indent="-114300" algn="l" defTabSz="666750" rtl="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de-DE" sz="1400"/>
              <a:t>Limitation im Chunking durch Zeichengrenzen</a:t>
            </a:r>
            <a:endParaRPr lang="de-DE" sz="1400" kern="1200"/>
          </a:p>
        </p:txBody>
      </p:sp>
      <p:sp>
        <p:nvSpPr>
          <p:cNvPr id="12" name="Freihandform 11">
            <a:extLst>
              <a:ext uri="{FF2B5EF4-FFF2-40B4-BE49-F238E27FC236}">
                <a16:creationId xmlns:a16="http://schemas.microsoft.com/office/drawing/2014/main" id="{CEB7B434-E64D-9A72-A5D0-E718016F81EF}"/>
              </a:ext>
            </a:extLst>
          </p:cNvPr>
          <p:cNvSpPr/>
          <p:nvPr/>
        </p:nvSpPr>
        <p:spPr>
          <a:xfrm>
            <a:off x="8360725" y="1222099"/>
            <a:ext cx="1716114" cy="519465"/>
          </a:xfrm>
          <a:custGeom>
            <a:avLst/>
            <a:gdLst>
              <a:gd name="csX0" fmla="*/ 0 w 1716114"/>
              <a:gd name="csY0" fmla="*/ 0 h 519465"/>
              <a:gd name="csX1" fmla="*/ 1716114 w 1716114"/>
              <a:gd name="csY1" fmla="*/ 0 h 519465"/>
              <a:gd name="csX2" fmla="*/ 1716114 w 1716114"/>
              <a:gd name="csY2" fmla="*/ 519465 h 519465"/>
              <a:gd name="csX3" fmla="*/ 0 w 1716114"/>
              <a:gd name="csY3" fmla="*/ 519465 h 519465"/>
              <a:gd name="csX4" fmla="*/ 0 w 1716114"/>
              <a:gd name="csY4" fmla="*/ 0 h 5194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16114" h="519465">
                <a:moveTo>
                  <a:pt x="0" y="0"/>
                </a:moveTo>
                <a:lnTo>
                  <a:pt x="1716114" y="0"/>
                </a:lnTo>
                <a:lnTo>
                  <a:pt x="1716114" y="519465"/>
                </a:lnTo>
                <a:lnTo>
                  <a:pt x="0" y="51946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06680" tIns="60960" rIns="106680" bIns="60960" numCol="1" spcCol="1270" anchor="ctr" anchorCtr="0">
            <a:noAutofit/>
          </a:bodyPr>
          <a:lstStyle/>
          <a:p>
            <a:pPr marL="0" lvl="0" indent="0" algn="ctr" defTabSz="66675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500" kern="1200"/>
              <a:t>Verwendete LLMs</a:t>
            </a:r>
          </a:p>
        </p:txBody>
      </p:sp>
      <p:sp>
        <p:nvSpPr>
          <p:cNvPr id="13" name="Freihandform 12">
            <a:extLst>
              <a:ext uri="{FF2B5EF4-FFF2-40B4-BE49-F238E27FC236}">
                <a16:creationId xmlns:a16="http://schemas.microsoft.com/office/drawing/2014/main" id="{3AB55C7A-96EF-86D3-C7D4-956B24853B46}"/>
              </a:ext>
            </a:extLst>
          </p:cNvPr>
          <p:cNvSpPr/>
          <p:nvPr/>
        </p:nvSpPr>
        <p:spPr>
          <a:xfrm>
            <a:off x="7666824" y="1741565"/>
            <a:ext cx="3189767" cy="1984713"/>
          </a:xfrm>
          <a:custGeom>
            <a:avLst/>
            <a:gdLst>
              <a:gd name="csX0" fmla="*/ 0 w 1716114"/>
              <a:gd name="csY0" fmla="*/ 0 h 2107645"/>
              <a:gd name="csX1" fmla="*/ 1716114 w 1716114"/>
              <a:gd name="csY1" fmla="*/ 0 h 2107645"/>
              <a:gd name="csX2" fmla="*/ 1716114 w 1716114"/>
              <a:gd name="csY2" fmla="*/ 2107645 h 2107645"/>
              <a:gd name="csX3" fmla="*/ 0 w 1716114"/>
              <a:gd name="csY3" fmla="*/ 2107645 h 2107645"/>
              <a:gd name="csX4" fmla="*/ 0 w 1716114"/>
              <a:gd name="csY4" fmla="*/ 0 h 210764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16114" h="2107645">
                <a:moveTo>
                  <a:pt x="0" y="0"/>
                </a:moveTo>
                <a:lnTo>
                  <a:pt x="1716114" y="0"/>
                </a:lnTo>
                <a:lnTo>
                  <a:pt x="1716114" y="2107645"/>
                </a:lnTo>
                <a:lnTo>
                  <a:pt x="0" y="210764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0010" tIns="80010" rIns="106680" bIns="120015" numCol="1" spcCol="1270" anchor="t" anchorCtr="0">
            <a:noAutofit/>
          </a:bodyPr>
          <a:lstStyle/>
          <a:p>
            <a:pPr marL="114300" lvl="1" indent="-114300" algn="l" defTabSz="666750" rtl="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de-DE" sz="1400" kern="1200" err="1"/>
              <a:t>Qwen</a:t>
            </a:r>
            <a:r>
              <a:rPr lang="de-DE" sz="1400" kern="1200"/>
              <a:t> VL (visuelle Daten)</a:t>
            </a:r>
          </a:p>
          <a:p>
            <a:pPr marL="114300" lvl="1" indent="-114300" algn="l" defTabSz="666750" rtl="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de-DE" sz="1400" err="1"/>
              <a:t>Llama</a:t>
            </a:r>
            <a:r>
              <a:rPr lang="de-DE" sz="1400"/>
              <a:t> 70 B Sauerkraut (Textdaten)</a:t>
            </a:r>
          </a:p>
          <a:p>
            <a:pPr marL="571500" lvl="2" indent="-114300" defTabSz="6667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de-DE" sz="1200"/>
              <a:t>Generator Modell</a:t>
            </a:r>
          </a:p>
          <a:p>
            <a:pPr marL="114300" lvl="1" indent="-114300" algn="l" defTabSz="666750" rtl="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de-DE" sz="1400" err="1"/>
              <a:t>Llama</a:t>
            </a:r>
            <a:r>
              <a:rPr lang="de-DE" sz="1400"/>
              <a:t> 70 B (Überprüfung)</a:t>
            </a:r>
          </a:p>
          <a:p>
            <a:pPr marL="571500" lvl="2" indent="-114300" defTabSz="6667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de-DE" sz="1200" err="1">
                <a:sym typeface="Wingdings" pitchFamily="2" charset="2"/>
              </a:rPr>
              <a:t>Critic</a:t>
            </a:r>
            <a:r>
              <a:rPr lang="de-DE" sz="1200">
                <a:sym typeface="Wingdings" pitchFamily="2" charset="2"/>
              </a:rPr>
              <a:t> Modell</a:t>
            </a:r>
            <a:endParaRPr lang="de-DE" sz="1200"/>
          </a:p>
          <a:p>
            <a:pPr marL="114300" lvl="1" indent="-114300" algn="l" defTabSz="666750" rtl="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de-DE" sz="1400" kern="1200"/>
              <a:t>Temperatur: 0,0</a:t>
            </a:r>
          </a:p>
          <a:p>
            <a:pPr marL="114300" lvl="1" indent="-114300" algn="l" defTabSz="666750" rtl="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de-DE" sz="1400"/>
              <a:t>Top-P: 0,1</a:t>
            </a:r>
            <a:endParaRPr lang="de-DE" sz="1400" kern="1200"/>
          </a:p>
          <a:p>
            <a:pPr marL="114300" lvl="1" indent="-114300" algn="l" defTabSz="666750" rtl="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None/>
            </a:pPr>
            <a:endParaRPr lang="de-DE" sz="1400" kern="1200"/>
          </a:p>
        </p:txBody>
      </p:sp>
      <p:sp>
        <p:nvSpPr>
          <p:cNvPr id="14" name="Freihandform 13">
            <a:extLst>
              <a:ext uri="{FF2B5EF4-FFF2-40B4-BE49-F238E27FC236}">
                <a16:creationId xmlns:a16="http://schemas.microsoft.com/office/drawing/2014/main" id="{10665A5A-3E26-BA43-FFCA-1E2225607E88}"/>
              </a:ext>
            </a:extLst>
          </p:cNvPr>
          <p:cNvSpPr/>
          <p:nvPr/>
        </p:nvSpPr>
        <p:spPr>
          <a:xfrm>
            <a:off x="1874907" y="3429000"/>
            <a:ext cx="1716114" cy="519465"/>
          </a:xfrm>
          <a:custGeom>
            <a:avLst/>
            <a:gdLst>
              <a:gd name="csX0" fmla="*/ 0 w 1716114"/>
              <a:gd name="csY0" fmla="*/ 0 h 519465"/>
              <a:gd name="csX1" fmla="*/ 1716114 w 1716114"/>
              <a:gd name="csY1" fmla="*/ 0 h 519465"/>
              <a:gd name="csX2" fmla="*/ 1716114 w 1716114"/>
              <a:gd name="csY2" fmla="*/ 519465 h 519465"/>
              <a:gd name="csX3" fmla="*/ 0 w 1716114"/>
              <a:gd name="csY3" fmla="*/ 519465 h 519465"/>
              <a:gd name="csX4" fmla="*/ 0 w 1716114"/>
              <a:gd name="csY4" fmla="*/ 0 h 5194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16114" h="519465">
                <a:moveTo>
                  <a:pt x="0" y="0"/>
                </a:moveTo>
                <a:lnTo>
                  <a:pt x="1716114" y="0"/>
                </a:lnTo>
                <a:lnTo>
                  <a:pt x="1716114" y="519465"/>
                </a:lnTo>
                <a:lnTo>
                  <a:pt x="0" y="51946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06680" tIns="60960" rIns="106680" bIns="60960" numCol="1" spcCol="1270" anchor="ctr" anchorCtr="0">
            <a:noAutofit/>
          </a:bodyPr>
          <a:lstStyle/>
          <a:p>
            <a:pPr marL="0" lvl="0" indent="0" algn="ctr" defTabSz="66675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500" kern="1200"/>
              <a:t>INCOSE Regelwerk</a:t>
            </a:r>
          </a:p>
        </p:txBody>
      </p:sp>
      <p:sp>
        <p:nvSpPr>
          <p:cNvPr id="15" name="Freihandform 14">
            <a:extLst>
              <a:ext uri="{FF2B5EF4-FFF2-40B4-BE49-F238E27FC236}">
                <a16:creationId xmlns:a16="http://schemas.microsoft.com/office/drawing/2014/main" id="{88D62124-8D31-4116-8E49-922115B36E8D}"/>
              </a:ext>
            </a:extLst>
          </p:cNvPr>
          <p:cNvSpPr/>
          <p:nvPr/>
        </p:nvSpPr>
        <p:spPr>
          <a:xfrm>
            <a:off x="1095152" y="3948466"/>
            <a:ext cx="3189767" cy="2107645"/>
          </a:xfrm>
          <a:custGeom>
            <a:avLst/>
            <a:gdLst>
              <a:gd name="csX0" fmla="*/ 0 w 1716114"/>
              <a:gd name="csY0" fmla="*/ 0 h 2107645"/>
              <a:gd name="csX1" fmla="*/ 1716114 w 1716114"/>
              <a:gd name="csY1" fmla="*/ 0 h 2107645"/>
              <a:gd name="csX2" fmla="*/ 1716114 w 1716114"/>
              <a:gd name="csY2" fmla="*/ 2107645 h 2107645"/>
              <a:gd name="csX3" fmla="*/ 0 w 1716114"/>
              <a:gd name="csY3" fmla="*/ 2107645 h 2107645"/>
              <a:gd name="csX4" fmla="*/ 0 w 1716114"/>
              <a:gd name="csY4" fmla="*/ 0 h 210764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16114" h="2107645">
                <a:moveTo>
                  <a:pt x="0" y="0"/>
                </a:moveTo>
                <a:lnTo>
                  <a:pt x="1716114" y="0"/>
                </a:lnTo>
                <a:lnTo>
                  <a:pt x="1716114" y="2107645"/>
                </a:lnTo>
                <a:lnTo>
                  <a:pt x="0" y="210764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0010" tIns="80010" rIns="106680" bIns="120015" numCol="1" spcCol="1270" anchor="t" anchorCtr="0">
            <a:noAutofit/>
          </a:bodyPr>
          <a:lstStyle/>
          <a:p>
            <a:pPr marL="114300" lvl="1" indent="-114300" algn="l" defTabSz="6667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de-DE" sz="1400"/>
              <a:t>42 Regeln zur Überprüfung der ISO Konformität der generierten Anforderungen </a:t>
            </a:r>
          </a:p>
          <a:p>
            <a:pPr marL="114300" lvl="1" indent="-114300" algn="l" defTabSz="6667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de-DE" sz="1400"/>
              <a:t>Direkte Einbindung im Code durch die Zuweisung im Prompt des </a:t>
            </a:r>
            <a:r>
              <a:rPr lang="de-DE" sz="1400" err="1"/>
              <a:t>Critic</a:t>
            </a:r>
            <a:r>
              <a:rPr lang="de-DE" sz="1400"/>
              <a:t> Modells</a:t>
            </a:r>
            <a:endParaRPr lang="de-DE" sz="1400" kern="1200"/>
          </a:p>
        </p:txBody>
      </p:sp>
      <p:sp>
        <p:nvSpPr>
          <p:cNvPr id="16" name="Freihandform 15">
            <a:extLst>
              <a:ext uri="{FF2B5EF4-FFF2-40B4-BE49-F238E27FC236}">
                <a16:creationId xmlns:a16="http://schemas.microsoft.com/office/drawing/2014/main" id="{45D6BF7E-A791-6F7F-E6B0-ADF51C581312}"/>
              </a:ext>
            </a:extLst>
          </p:cNvPr>
          <p:cNvSpPr/>
          <p:nvPr/>
        </p:nvSpPr>
        <p:spPr>
          <a:xfrm>
            <a:off x="5117816" y="3429000"/>
            <a:ext cx="1716114" cy="519465"/>
          </a:xfrm>
          <a:custGeom>
            <a:avLst/>
            <a:gdLst>
              <a:gd name="csX0" fmla="*/ 0 w 1716114"/>
              <a:gd name="csY0" fmla="*/ 0 h 519465"/>
              <a:gd name="csX1" fmla="*/ 1716114 w 1716114"/>
              <a:gd name="csY1" fmla="*/ 0 h 519465"/>
              <a:gd name="csX2" fmla="*/ 1716114 w 1716114"/>
              <a:gd name="csY2" fmla="*/ 519465 h 519465"/>
              <a:gd name="csX3" fmla="*/ 0 w 1716114"/>
              <a:gd name="csY3" fmla="*/ 519465 h 519465"/>
              <a:gd name="csX4" fmla="*/ 0 w 1716114"/>
              <a:gd name="csY4" fmla="*/ 0 h 5194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16114" h="519465">
                <a:moveTo>
                  <a:pt x="0" y="0"/>
                </a:moveTo>
                <a:lnTo>
                  <a:pt x="1716114" y="0"/>
                </a:lnTo>
                <a:lnTo>
                  <a:pt x="1716114" y="519465"/>
                </a:lnTo>
                <a:lnTo>
                  <a:pt x="0" y="51946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06680" tIns="60960" rIns="106680" bIns="60960" numCol="1" spcCol="1270" anchor="ctr" anchorCtr="0">
            <a:noAutofit/>
          </a:bodyPr>
          <a:lstStyle/>
          <a:p>
            <a:pPr marL="0" lvl="0" indent="0" algn="ctr" defTabSz="66675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500" kern="1200"/>
              <a:t>Nachweis-methoden</a:t>
            </a:r>
          </a:p>
        </p:txBody>
      </p:sp>
      <p:sp>
        <p:nvSpPr>
          <p:cNvPr id="17" name="Freihandform 16">
            <a:extLst>
              <a:ext uri="{FF2B5EF4-FFF2-40B4-BE49-F238E27FC236}">
                <a16:creationId xmlns:a16="http://schemas.microsoft.com/office/drawing/2014/main" id="{6105D719-0E6C-2E80-9E22-B4E979DCFA89}"/>
              </a:ext>
            </a:extLst>
          </p:cNvPr>
          <p:cNvSpPr/>
          <p:nvPr/>
        </p:nvSpPr>
        <p:spPr>
          <a:xfrm>
            <a:off x="4370775" y="3948466"/>
            <a:ext cx="3189767" cy="2107645"/>
          </a:xfrm>
          <a:custGeom>
            <a:avLst/>
            <a:gdLst>
              <a:gd name="csX0" fmla="*/ 0 w 1716114"/>
              <a:gd name="csY0" fmla="*/ 0 h 2107645"/>
              <a:gd name="csX1" fmla="*/ 1716114 w 1716114"/>
              <a:gd name="csY1" fmla="*/ 0 h 2107645"/>
              <a:gd name="csX2" fmla="*/ 1716114 w 1716114"/>
              <a:gd name="csY2" fmla="*/ 2107645 h 2107645"/>
              <a:gd name="csX3" fmla="*/ 0 w 1716114"/>
              <a:gd name="csY3" fmla="*/ 2107645 h 2107645"/>
              <a:gd name="csX4" fmla="*/ 0 w 1716114"/>
              <a:gd name="csY4" fmla="*/ 0 h 210764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16114" h="2107645">
                <a:moveTo>
                  <a:pt x="0" y="0"/>
                </a:moveTo>
                <a:lnTo>
                  <a:pt x="1716114" y="0"/>
                </a:lnTo>
                <a:lnTo>
                  <a:pt x="1716114" y="2107645"/>
                </a:lnTo>
                <a:lnTo>
                  <a:pt x="0" y="210764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0010" tIns="80010" rIns="106680" bIns="120015" numCol="1" spcCol="1270" anchor="t" anchorCtr="0">
            <a:noAutofit/>
          </a:bodyPr>
          <a:lstStyle/>
          <a:p>
            <a:pPr marL="114300" lvl="1" indent="-114300" algn="l" defTabSz="666750" rtl="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de-DE" sz="1400" kern="1200"/>
              <a:t>Definition der einzelnen Nachweise Inspektion, Demonstration, Test &amp; Analyse</a:t>
            </a:r>
          </a:p>
          <a:p>
            <a:pPr marL="114300" lvl="1" indent="-114300" algn="l" defTabSz="666750" rtl="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de-DE" sz="1400"/>
              <a:t>Übergabe an </a:t>
            </a:r>
            <a:r>
              <a:rPr lang="de-DE" sz="1400" err="1"/>
              <a:t>Critic</a:t>
            </a:r>
            <a:r>
              <a:rPr lang="de-DE" sz="1400"/>
              <a:t> Modell über den entwickelten Prompt</a:t>
            </a:r>
          </a:p>
        </p:txBody>
      </p:sp>
      <p:sp>
        <p:nvSpPr>
          <p:cNvPr id="18" name="Freihandform 17">
            <a:extLst>
              <a:ext uri="{FF2B5EF4-FFF2-40B4-BE49-F238E27FC236}">
                <a16:creationId xmlns:a16="http://schemas.microsoft.com/office/drawing/2014/main" id="{36B4E1F4-E26E-C830-85B6-3E3814025DA9}"/>
              </a:ext>
            </a:extLst>
          </p:cNvPr>
          <p:cNvSpPr/>
          <p:nvPr/>
        </p:nvSpPr>
        <p:spPr>
          <a:xfrm>
            <a:off x="8360725" y="3429000"/>
            <a:ext cx="1716114" cy="519465"/>
          </a:xfrm>
          <a:custGeom>
            <a:avLst/>
            <a:gdLst>
              <a:gd name="csX0" fmla="*/ 0 w 1716114"/>
              <a:gd name="csY0" fmla="*/ 0 h 519465"/>
              <a:gd name="csX1" fmla="*/ 1716114 w 1716114"/>
              <a:gd name="csY1" fmla="*/ 0 h 519465"/>
              <a:gd name="csX2" fmla="*/ 1716114 w 1716114"/>
              <a:gd name="csY2" fmla="*/ 519465 h 519465"/>
              <a:gd name="csX3" fmla="*/ 0 w 1716114"/>
              <a:gd name="csY3" fmla="*/ 519465 h 519465"/>
              <a:gd name="csX4" fmla="*/ 0 w 1716114"/>
              <a:gd name="csY4" fmla="*/ 0 h 5194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16114" h="519465">
                <a:moveTo>
                  <a:pt x="0" y="0"/>
                </a:moveTo>
                <a:lnTo>
                  <a:pt x="1716114" y="0"/>
                </a:lnTo>
                <a:lnTo>
                  <a:pt x="1716114" y="519465"/>
                </a:lnTo>
                <a:lnTo>
                  <a:pt x="0" y="51946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06680" tIns="60960" rIns="106680" bIns="60960" numCol="1" spcCol="1270" anchor="ctr" anchorCtr="0">
            <a:noAutofit/>
          </a:bodyPr>
          <a:lstStyle/>
          <a:p>
            <a:pPr marL="0" lvl="0" indent="0" algn="ctr" defTabSz="66675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500" kern="1200"/>
              <a:t>Komprimiertes PDF</a:t>
            </a:r>
          </a:p>
        </p:txBody>
      </p:sp>
      <p:sp>
        <p:nvSpPr>
          <p:cNvPr id="19" name="Freihandform 18">
            <a:extLst>
              <a:ext uri="{FF2B5EF4-FFF2-40B4-BE49-F238E27FC236}">
                <a16:creationId xmlns:a16="http://schemas.microsoft.com/office/drawing/2014/main" id="{723EC620-0B95-86A3-0AB3-1997826802C7}"/>
              </a:ext>
            </a:extLst>
          </p:cNvPr>
          <p:cNvSpPr/>
          <p:nvPr/>
        </p:nvSpPr>
        <p:spPr>
          <a:xfrm>
            <a:off x="7666824" y="3948466"/>
            <a:ext cx="3189767" cy="2107645"/>
          </a:xfrm>
          <a:custGeom>
            <a:avLst/>
            <a:gdLst>
              <a:gd name="csX0" fmla="*/ 0 w 1716114"/>
              <a:gd name="csY0" fmla="*/ 0 h 2107645"/>
              <a:gd name="csX1" fmla="*/ 1716114 w 1716114"/>
              <a:gd name="csY1" fmla="*/ 0 h 2107645"/>
              <a:gd name="csX2" fmla="*/ 1716114 w 1716114"/>
              <a:gd name="csY2" fmla="*/ 2107645 h 2107645"/>
              <a:gd name="csX3" fmla="*/ 0 w 1716114"/>
              <a:gd name="csY3" fmla="*/ 2107645 h 2107645"/>
              <a:gd name="csX4" fmla="*/ 0 w 1716114"/>
              <a:gd name="csY4" fmla="*/ 0 h 210764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16114" h="2107645">
                <a:moveTo>
                  <a:pt x="0" y="0"/>
                </a:moveTo>
                <a:lnTo>
                  <a:pt x="1716114" y="0"/>
                </a:lnTo>
                <a:lnTo>
                  <a:pt x="1716114" y="2107645"/>
                </a:lnTo>
                <a:lnTo>
                  <a:pt x="0" y="210764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0010" tIns="80010" rIns="106680" bIns="120015" numCol="1" spcCol="1270" anchor="t" anchorCtr="0">
            <a:noAutofit/>
          </a:bodyPr>
          <a:lstStyle/>
          <a:p>
            <a:pPr marL="114300" lvl="1" indent="-114300" algn="l" defTabSz="666750" rtl="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de-DE" sz="1400" kern="1200"/>
              <a:t>Gekürzte Version (12 Seiten)</a:t>
            </a:r>
          </a:p>
          <a:p>
            <a:pPr marL="114300" lvl="1" indent="-114300" algn="l" defTabSz="666750" rtl="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de-DE" sz="1400"/>
              <a:t>Repräsentiert alle Informationsebenen </a:t>
            </a:r>
            <a:br>
              <a:rPr lang="de-DE" sz="1400"/>
            </a:br>
            <a:r>
              <a:rPr lang="de-DE" sz="1400"/>
              <a:t>(Tabellen, Skizzen, Fließtexte etc.)</a:t>
            </a:r>
          </a:p>
        </p:txBody>
      </p:sp>
    </p:spTree>
    <p:extLst>
      <p:ext uri="{BB962C8B-B14F-4D97-AF65-F5344CB8AC3E}">
        <p14:creationId xmlns:p14="http://schemas.microsoft.com/office/powerpoint/2010/main" val="35429094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3F7EBE-A713-3297-18C8-0D14650FC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Schematische Übersicht der Ansätze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9587BBD-EEE9-8CF9-FE35-9EC8A55CE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C4DC1-7D02-4994-BD54-74988B047B41}" type="slidenum">
              <a:rPr lang="de-DE" sz="1600" b="1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7</a:t>
            </a:fld>
            <a:endParaRPr lang="de-DE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35F7494-ADA8-7F36-7CBB-3181076031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l"/>
            <a:r>
              <a:rPr lang="de-DE"/>
              <a:t>| PFLICHTENHEFTANALYSE | GRUPPE 2</a:t>
            </a:r>
          </a:p>
        </p:txBody>
      </p:sp>
      <p:sp>
        <p:nvSpPr>
          <p:cNvPr id="7" name="Abgerundetes Rechteck 6">
            <a:extLst>
              <a:ext uri="{FF2B5EF4-FFF2-40B4-BE49-F238E27FC236}">
                <a16:creationId xmlns:a16="http://schemas.microsoft.com/office/drawing/2014/main" id="{5B19C4A1-9DB3-1C39-8B24-A0D9C589633F}"/>
              </a:ext>
            </a:extLst>
          </p:cNvPr>
          <p:cNvSpPr/>
          <p:nvPr/>
        </p:nvSpPr>
        <p:spPr>
          <a:xfrm>
            <a:off x="271716" y="3104511"/>
            <a:ext cx="1342656" cy="66985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/>
              <a:t>PDF einlesen</a:t>
            </a:r>
            <a:endParaRPr lang="de-DE"/>
          </a:p>
        </p:txBody>
      </p:sp>
      <p:sp>
        <p:nvSpPr>
          <p:cNvPr id="8" name="Abgerundetes Rechteck 7">
            <a:extLst>
              <a:ext uri="{FF2B5EF4-FFF2-40B4-BE49-F238E27FC236}">
                <a16:creationId xmlns:a16="http://schemas.microsoft.com/office/drawing/2014/main" id="{4898AAF4-5C9E-EC9F-B3AF-05B09A869DB5}"/>
              </a:ext>
            </a:extLst>
          </p:cNvPr>
          <p:cNvSpPr/>
          <p:nvPr/>
        </p:nvSpPr>
        <p:spPr>
          <a:xfrm>
            <a:off x="1933939" y="3111469"/>
            <a:ext cx="1342656" cy="66985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/>
              <a:t>Multimodale Datenerfassung</a:t>
            </a:r>
          </a:p>
        </p:txBody>
      </p:sp>
      <p:sp>
        <p:nvSpPr>
          <p:cNvPr id="9" name="Abgerundetes Rechteck 8">
            <a:extLst>
              <a:ext uri="{FF2B5EF4-FFF2-40B4-BE49-F238E27FC236}">
                <a16:creationId xmlns:a16="http://schemas.microsoft.com/office/drawing/2014/main" id="{8B47C510-4636-2178-038D-FD91B6B0EB05}"/>
              </a:ext>
            </a:extLst>
          </p:cNvPr>
          <p:cNvSpPr/>
          <p:nvPr/>
        </p:nvSpPr>
        <p:spPr>
          <a:xfrm>
            <a:off x="7009212" y="2434660"/>
            <a:ext cx="1431260" cy="669851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/>
              <a:t>KI-Anforderungen generieren</a:t>
            </a:r>
          </a:p>
        </p:txBody>
      </p:sp>
      <p:sp>
        <p:nvSpPr>
          <p:cNvPr id="10" name="Abgerundetes Rechteck 9">
            <a:extLst>
              <a:ext uri="{FF2B5EF4-FFF2-40B4-BE49-F238E27FC236}">
                <a16:creationId xmlns:a16="http://schemas.microsoft.com/office/drawing/2014/main" id="{E5AAA335-E20A-E171-52E2-15E306B4C51D}"/>
              </a:ext>
            </a:extLst>
          </p:cNvPr>
          <p:cNvSpPr/>
          <p:nvPr/>
        </p:nvSpPr>
        <p:spPr>
          <a:xfrm>
            <a:off x="5258385" y="3788279"/>
            <a:ext cx="1431260" cy="669851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/>
              <a:t>Segmentierung + Vektordatenbank</a:t>
            </a:r>
          </a:p>
        </p:txBody>
      </p:sp>
      <p:sp>
        <p:nvSpPr>
          <p:cNvPr id="11" name="Abgerundetes Rechteck 10">
            <a:extLst>
              <a:ext uri="{FF2B5EF4-FFF2-40B4-BE49-F238E27FC236}">
                <a16:creationId xmlns:a16="http://schemas.microsoft.com/office/drawing/2014/main" id="{9AA0B4B3-0CC4-5357-9263-576AD9488DF3}"/>
              </a:ext>
            </a:extLst>
          </p:cNvPr>
          <p:cNvSpPr/>
          <p:nvPr/>
        </p:nvSpPr>
        <p:spPr>
          <a:xfrm>
            <a:off x="3596162" y="3118428"/>
            <a:ext cx="1342656" cy="66985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/>
              <a:t>Chunking</a:t>
            </a:r>
          </a:p>
        </p:txBody>
      </p:sp>
      <p:sp>
        <p:nvSpPr>
          <p:cNvPr id="12" name="Abgerundetes Rechteck 11">
            <a:extLst>
              <a:ext uri="{FF2B5EF4-FFF2-40B4-BE49-F238E27FC236}">
                <a16:creationId xmlns:a16="http://schemas.microsoft.com/office/drawing/2014/main" id="{F59AD8C9-FF32-C482-E77D-4D837CDFA1A0}"/>
              </a:ext>
            </a:extLst>
          </p:cNvPr>
          <p:cNvSpPr/>
          <p:nvPr/>
        </p:nvSpPr>
        <p:spPr>
          <a:xfrm>
            <a:off x="7009212" y="3788279"/>
            <a:ext cx="1431260" cy="669851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/>
              <a:t>Retrieval</a:t>
            </a:r>
          </a:p>
        </p:txBody>
      </p:sp>
      <p:sp>
        <p:nvSpPr>
          <p:cNvPr id="13" name="Abgerundetes Rechteck 12">
            <a:extLst>
              <a:ext uri="{FF2B5EF4-FFF2-40B4-BE49-F238E27FC236}">
                <a16:creationId xmlns:a16="http://schemas.microsoft.com/office/drawing/2014/main" id="{939D2A16-D4AB-A38A-F242-9A5DC527BD8F}"/>
              </a:ext>
            </a:extLst>
          </p:cNvPr>
          <p:cNvSpPr/>
          <p:nvPr/>
        </p:nvSpPr>
        <p:spPr>
          <a:xfrm>
            <a:off x="8760039" y="3788279"/>
            <a:ext cx="1431260" cy="669851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/>
              <a:t>Augmented Generation</a:t>
            </a:r>
          </a:p>
        </p:txBody>
      </p:sp>
      <p:sp>
        <p:nvSpPr>
          <p:cNvPr id="14" name="Abgerundetes Rechteck 13">
            <a:extLst>
              <a:ext uri="{FF2B5EF4-FFF2-40B4-BE49-F238E27FC236}">
                <a16:creationId xmlns:a16="http://schemas.microsoft.com/office/drawing/2014/main" id="{1DBAB4B1-B21B-53F9-DC76-D96BC5747A65}"/>
              </a:ext>
            </a:extLst>
          </p:cNvPr>
          <p:cNvSpPr/>
          <p:nvPr/>
        </p:nvSpPr>
        <p:spPr>
          <a:xfrm>
            <a:off x="10510866" y="3125386"/>
            <a:ext cx="1431260" cy="66985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/>
              <a:t>INCOSE-Prüfung + Konvertierung</a:t>
            </a:r>
          </a:p>
        </p:txBody>
      </p: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20E23D04-ABDE-37AD-8069-6B9A421DDC63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1614372" y="3439437"/>
            <a:ext cx="319567" cy="695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DCA63F3A-C228-401F-43A3-B5A143F7D0C2}"/>
              </a:ext>
            </a:extLst>
          </p:cNvPr>
          <p:cNvCxnSpPr>
            <a:cxnSpLocks/>
            <a:stCxn id="8" idx="3"/>
            <a:endCxn id="11" idx="1"/>
          </p:cNvCxnSpPr>
          <p:nvPr/>
        </p:nvCxnSpPr>
        <p:spPr>
          <a:xfrm>
            <a:off x="3276595" y="3446395"/>
            <a:ext cx="319567" cy="695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53D2FF79-B52D-8AD7-2FBF-477533ACA335}"/>
              </a:ext>
            </a:extLst>
          </p:cNvPr>
          <p:cNvCxnSpPr>
            <a:cxnSpLocks/>
            <a:stCxn id="11" idx="3"/>
            <a:endCxn id="10" idx="1"/>
          </p:cNvCxnSpPr>
          <p:nvPr/>
        </p:nvCxnSpPr>
        <p:spPr>
          <a:xfrm>
            <a:off x="4938818" y="3453354"/>
            <a:ext cx="319567" cy="66985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8C1E06B6-871A-D796-2E99-1F480DB06D1D}"/>
              </a:ext>
            </a:extLst>
          </p:cNvPr>
          <p:cNvCxnSpPr>
            <a:cxnSpLocks/>
            <a:stCxn id="10" idx="3"/>
            <a:endCxn id="12" idx="1"/>
          </p:cNvCxnSpPr>
          <p:nvPr/>
        </p:nvCxnSpPr>
        <p:spPr>
          <a:xfrm>
            <a:off x="6689645" y="4123205"/>
            <a:ext cx="31956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740A52D4-D313-23ED-D86A-5EDB22D39DF7}"/>
              </a:ext>
            </a:extLst>
          </p:cNvPr>
          <p:cNvCxnSpPr>
            <a:cxnSpLocks/>
            <a:stCxn id="11" idx="3"/>
            <a:endCxn id="9" idx="1"/>
          </p:cNvCxnSpPr>
          <p:nvPr/>
        </p:nvCxnSpPr>
        <p:spPr>
          <a:xfrm flipV="1">
            <a:off x="4938818" y="2769586"/>
            <a:ext cx="2070394" cy="68376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1C586EFE-5563-3832-D379-586524A87C80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>
            <a:off x="8440472" y="4123205"/>
            <a:ext cx="31956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75759880-066B-370B-A349-426ADF9C0D84}"/>
              </a:ext>
            </a:extLst>
          </p:cNvPr>
          <p:cNvCxnSpPr>
            <a:cxnSpLocks/>
            <a:stCxn id="13" idx="3"/>
            <a:endCxn id="14" idx="1"/>
          </p:cNvCxnSpPr>
          <p:nvPr/>
        </p:nvCxnSpPr>
        <p:spPr>
          <a:xfrm flipV="1">
            <a:off x="10191299" y="3460312"/>
            <a:ext cx="319567" cy="66289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99F369CB-5B7A-0D74-1D8E-9EAB8CFBA64E}"/>
              </a:ext>
            </a:extLst>
          </p:cNvPr>
          <p:cNvCxnSpPr>
            <a:cxnSpLocks/>
            <a:stCxn id="9" idx="3"/>
            <a:endCxn id="14" idx="1"/>
          </p:cNvCxnSpPr>
          <p:nvPr/>
        </p:nvCxnSpPr>
        <p:spPr>
          <a:xfrm>
            <a:off x="8440472" y="2769586"/>
            <a:ext cx="2070394" cy="69072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40" name="Textfeld 39">
            <a:extLst>
              <a:ext uri="{FF2B5EF4-FFF2-40B4-BE49-F238E27FC236}">
                <a16:creationId xmlns:a16="http://schemas.microsoft.com/office/drawing/2014/main" id="{945FA08B-7AF0-D47C-822F-1DABA21FCE12}"/>
              </a:ext>
            </a:extLst>
          </p:cNvPr>
          <p:cNvSpPr txBox="1"/>
          <p:nvPr/>
        </p:nvSpPr>
        <p:spPr>
          <a:xfrm>
            <a:off x="5655630" y="4682955"/>
            <a:ext cx="3978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>
                <a:solidFill>
                  <a:schemeClr val="accent3"/>
                </a:solidFill>
              </a:rPr>
              <a:t>RAG-System</a:t>
            </a:r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C7C9FF2F-97D4-DE25-431B-901716115444}"/>
              </a:ext>
            </a:extLst>
          </p:cNvPr>
          <p:cNvSpPr txBox="1"/>
          <p:nvPr/>
        </p:nvSpPr>
        <p:spPr>
          <a:xfrm>
            <a:off x="5655630" y="1847077"/>
            <a:ext cx="3978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>
                <a:solidFill>
                  <a:schemeClr val="accent5"/>
                </a:solidFill>
              </a:rPr>
              <a:t>Doppelstufiges LLM</a:t>
            </a:r>
          </a:p>
        </p:txBody>
      </p:sp>
      <p:cxnSp>
        <p:nvCxnSpPr>
          <p:cNvPr id="43" name="Gerade Verbindung 42">
            <a:extLst>
              <a:ext uri="{FF2B5EF4-FFF2-40B4-BE49-F238E27FC236}">
                <a16:creationId xmlns:a16="http://schemas.microsoft.com/office/drawing/2014/main" id="{FE795F43-3F18-1CBA-8152-8AA7F883C519}"/>
              </a:ext>
            </a:extLst>
          </p:cNvPr>
          <p:cNvCxnSpPr>
            <a:cxnSpLocks/>
          </p:cNvCxnSpPr>
          <p:nvPr/>
        </p:nvCxnSpPr>
        <p:spPr>
          <a:xfrm>
            <a:off x="5098601" y="4641781"/>
            <a:ext cx="5092698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4" name="Gerade Verbindung 43">
            <a:extLst>
              <a:ext uri="{FF2B5EF4-FFF2-40B4-BE49-F238E27FC236}">
                <a16:creationId xmlns:a16="http://schemas.microsoft.com/office/drawing/2014/main" id="{6890D93F-6051-F00E-740D-4FF5194D31E0}"/>
              </a:ext>
            </a:extLst>
          </p:cNvPr>
          <p:cNvCxnSpPr>
            <a:cxnSpLocks/>
          </p:cNvCxnSpPr>
          <p:nvPr/>
        </p:nvCxnSpPr>
        <p:spPr>
          <a:xfrm flipV="1">
            <a:off x="5098601" y="2249904"/>
            <a:ext cx="5092698" cy="1103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86011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1CE46E-6930-5E72-8D87-DD9140797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Ansatz 1: Doppelstufiges </a:t>
            </a:r>
            <a:r>
              <a:rPr lang="de-DE" err="1"/>
              <a:t>llm</a:t>
            </a:r>
            <a:br>
              <a:rPr lang="de-DE"/>
            </a:br>
            <a:r>
              <a:rPr lang="de-DE"/>
              <a:t>Methodik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98B230B-874F-33A3-D721-C1A7DB8A6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C4DC1-7D02-4994-BD54-74988B047B41}" type="slidenum">
              <a:rPr lang="de-DE" sz="1600" b="1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8</a:t>
            </a:fld>
            <a:endParaRPr lang="de-DE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FE95891-D5C5-72AD-0161-4AC7DC8AC5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l"/>
            <a:r>
              <a:rPr lang="de-DE"/>
              <a:t>| PFLICHTENHEFTANALYSE | GRUPPE 2</a:t>
            </a:r>
          </a:p>
        </p:txBody>
      </p:sp>
      <p:sp>
        <p:nvSpPr>
          <p:cNvPr id="36" name="Abgerundetes Rechteck 35">
            <a:extLst>
              <a:ext uri="{FF2B5EF4-FFF2-40B4-BE49-F238E27FC236}">
                <a16:creationId xmlns:a16="http://schemas.microsoft.com/office/drawing/2014/main" id="{7E2FA1EA-E646-1D9B-D869-DCC463A078E4}"/>
              </a:ext>
            </a:extLst>
          </p:cNvPr>
          <p:cNvSpPr/>
          <p:nvPr/>
        </p:nvSpPr>
        <p:spPr>
          <a:xfrm>
            <a:off x="94508" y="3419221"/>
            <a:ext cx="1301591" cy="36623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/>
              <a:t>PDF einlesen</a:t>
            </a:r>
            <a:endParaRPr lang="de-DE"/>
          </a:p>
        </p:txBody>
      </p:sp>
      <p:sp>
        <p:nvSpPr>
          <p:cNvPr id="37" name="Abgerundetes Rechteck 36">
            <a:extLst>
              <a:ext uri="{FF2B5EF4-FFF2-40B4-BE49-F238E27FC236}">
                <a16:creationId xmlns:a16="http://schemas.microsoft.com/office/drawing/2014/main" id="{6D0A293B-77B9-02CB-2712-4C67146E1E98}"/>
              </a:ext>
            </a:extLst>
          </p:cNvPr>
          <p:cNvSpPr/>
          <p:nvPr/>
        </p:nvSpPr>
        <p:spPr>
          <a:xfrm>
            <a:off x="1557881" y="3415083"/>
            <a:ext cx="1301591" cy="36623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/>
              <a:t>Multimodale Datenerfassung</a:t>
            </a:r>
          </a:p>
        </p:txBody>
      </p:sp>
      <p:sp>
        <p:nvSpPr>
          <p:cNvPr id="38" name="Abgerundetes Rechteck 37">
            <a:extLst>
              <a:ext uri="{FF2B5EF4-FFF2-40B4-BE49-F238E27FC236}">
                <a16:creationId xmlns:a16="http://schemas.microsoft.com/office/drawing/2014/main" id="{27981C57-9EEC-B74F-1E87-99190E3B464A}"/>
              </a:ext>
            </a:extLst>
          </p:cNvPr>
          <p:cNvSpPr/>
          <p:nvPr/>
        </p:nvSpPr>
        <p:spPr>
          <a:xfrm>
            <a:off x="3021254" y="3415082"/>
            <a:ext cx="1301591" cy="36623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/>
              <a:t>Chunking</a:t>
            </a:r>
          </a:p>
        </p:txBody>
      </p:sp>
      <p:sp>
        <p:nvSpPr>
          <p:cNvPr id="39" name="Abgerundetes Rechteck 38">
            <a:extLst>
              <a:ext uri="{FF2B5EF4-FFF2-40B4-BE49-F238E27FC236}">
                <a16:creationId xmlns:a16="http://schemas.microsoft.com/office/drawing/2014/main" id="{A77CBBC3-B317-7FCA-2B8F-5CD303B6B870}"/>
              </a:ext>
            </a:extLst>
          </p:cNvPr>
          <p:cNvSpPr/>
          <p:nvPr/>
        </p:nvSpPr>
        <p:spPr>
          <a:xfrm>
            <a:off x="6592380" y="1628826"/>
            <a:ext cx="1848092" cy="669851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/>
              <a:t>KI-Anforderungen generieren</a:t>
            </a:r>
          </a:p>
        </p:txBody>
      </p:sp>
      <p:sp>
        <p:nvSpPr>
          <p:cNvPr id="40" name="Abgerundetes Rechteck 39">
            <a:extLst>
              <a:ext uri="{FF2B5EF4-FFF2-40B4-BE49-F238E27FC236}">
                <a16:creationId xmlns:a16="http://schemas.microsoft.com/office/drawing/2014/main" id="{D812C618-A545-F418-2423-6C0433E8E8A7}"/>
              </a:ext>
            </a:extLst>
          </p:cNvPr>
          <p:cNvSpPr/>
          <p:nvPr/>
        </p:nvSpPr>
        <p:spPr>
          <a:xfrm>
            <a:off x="10710007" y="3415082"/>
            <a:ext cx="1387485" cy="36623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/>
              <a:t>INCOSE-Prüfung + Konvertierung</a:t>
            </a:r>
          </a:p>
        </p:txBody>
      </p: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A9E715EF-C113-E750-112D-BA9158A5188F}"/>
              </a:ext>
            </a:extLst>
          </p:cNvPr>
          <p:cNvCxnSpPr>
            <a:cxnSpLocks/>
            <a:stCxn id="36" idx="3"/>
            <a:endCxn id="37" idx="1"/>
          </p:cNvCxnSpPr>
          <p:nvPr/>
        </p:nvCxnSpPr>
        <p:spPr>
          <a:xfrm flipV="1">
            <a:off x="1396099" y="3598202"/>
            <a:ext cx="161782" cy="413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C2B0A6C4-36D5-89D6-4F54-1A52C0951DD4}"/>
              </a:ext>
            </a:extLst>
          </p:cNvPr>
          <p:cNvCxnSpPr>
            <a:cxnSpLocks/>
            <a:stCxn id="37" idx="3"/>
            <a:endCxn id="38" idx="1"/>
          </p:cNvCxnSpPr>
          <p:nvPr/>
        </p:nvCxnSpPr>
        <p:spPr>
          <a:xfrm flipV="1">
            <a:off x="2859472" y="3598201"/>
            <a:ext cx="161782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3" name="Gerade Verbindung mit Pfeil 42">
            <a:extLst>
              <a:ext uri="{FF2B5EF4-FFF2-40B4-BE49-F238E27FC236}">
                <a16:creationId xmlns:a16="http://schemas.microsoft.com/office/drawing/2014/main" id="{9497A244-BD09-7DE9-AD6B-C986FDF20D36}"/>
              </a:ext>
            </a:extLst>
          </p:cNvPr>
          <p:cNvCxnSpPr>
            <a:cxnSpLocks/>
            <a:stCxn id="38" idx="3"/>
            <a:endCxn id="39" idx="1"/>
          </p:cNvCxnSpPr>
          <p:nvPr/>
        </p:nvCxnSpPr>
        <p:spPr>
          <a:xfrm flipV="1">
            <a:off x="4322845" y="1963752"/>
            <a:ext cx="2269535" cy="163444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4" name="Gerade Verbindung mit Pfeil 43">
            <a:extLst>
              <a:ext uri="{FF2B5EF4-FFF2-40B4-BE49-F238E27FC236}">
                <a16:creationId xmlns:a16="http://schemas.microsoft.com/office/drawing/2014/main" id="{D085B0A7-16B6-2222-B5FB-6BB0A3DF4D7D}"/>
              </a:ext>
            </a:extLst>
          </p:cNvPr>
          <p:cNvCxnSpPr>
            <a:cxnSpLocks/>
            <a:stCxn id="39" idx="3"/>
            <a:endCxn id="40" idx="1"/>
          </p:cNvCxnSpPr>
          <p:nvPr/>
        </p:nvCxnSpPr>
        <p:spPr>
          <a:xfrm>
            <a:off x="8440472" y="1963752"/>
            <a:ext cx="2269535" cy="163444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45" name="Textfeld 44">
            <a:extLst>
              <a:ext uri="{FF2B5EF4-FFF2-40B4-BE49-F238E27FC236}">
                <a16:creationId xmlns:a16="http://schemas.microsoft.com/office/drawing/2014/main" id="{1DE325A5-65DE-4652-3D13-22C1A8E2CC6B}"/>
              </a:ext>
            </a:extLst>
          </p:cNvPr>
          <p:cNvSpPr txBox="1"/>
          <p:nvPr/>
        </p:nvSpPr>
        <p:spPr>
          <a:xfrm>
            <a:off x="6592380" y="2417356"/>
            <a:ext cx="184809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Symbol" pitchFamily="2" charset="2"/>
              <a:buChar char="-"/>
            </a:pPr>
            <a:r>
              <a:rPr lang="de-DE" sz="1200" dirty="0"/>
              <a:t>Kontext Aufbereitung für die einzelnen Chunks</a:t>
            </a:r>
          </a:p>
          <a:p>
            <a:pPr marL="285750" indent="-285750">
              <a:buFont typeface="Symbol" pitchFamily="2" charset="2"/>
              <a:buChar char="-"/>
            </a:pPr>
            <a:r>
              <a:rPr lang="de-DE" sz="1200" dirty="0"/>
              <a:t>Detailliertes Prompt Engineering</a:t>
            </a:r>
          </a:p>
          <a:p>
            <a:pPr marL="285750" indent="-285750">
              <a:buFont typeface="Symbol" pitchFamily="2" charset="2"/>
              <a:buChar char="-"/>
            </a:pPr>
            <a:r>
              <a:rPr lang="de-DE" sz="1200"/>
              <a:t>Aus jedem Chunk wird eine Anforderung generiert </a:t>
            </a:r>
            <a:endParaRPr lang="de-DE" sz="1200" dirty="0"/>
          </a:p>
        </p:txBody>
      </p:sp>
    </p:spTree>
    <p:extLst>
      <p:ext uri="{BB962C8B-B14F-4D97-AF65-F5344CB8AC3E}">
        <p14:creationId xmlns:p14="http://schemas.microsoft.com/office/powerpoint/2010/main" val="17117842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7036CF2-7604-B8C5-E03C-515D44F31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D5B223-7990-3740-9F01-5DCED8ADB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Ergänzender </a:t>
            </a:r>
            <a:br>
              <a:rPr lang="de-DE" dirty="0"/>
            </a:br>
            <a:r>
              <a:rPr lang="de-DE" dirty="0"/>
              <a:t>Flow Chart </a:t>
            </a:r>
            <a:br>
              <a:rPr lang="de-DE" dirty="0"/>
            </a:br>
            <a:br>
              <a:rPr lang="de-DE" dirty="0"/>
            </a:br>
            <a:r>
              <a:rPr lang="de-DE" b="0" dirty="0"/>
              <a:t>Ansatz 1: </a:t>
            </a:r>
            <a:br>
              <a:rPr lang="de-DE" b="0" dirty="0"/>
            </a:br>
            <a:r>
              <a:rPr lang="de-DE" b="0" dirty="0"/>
              <a:t>Doppelstufiges </a:t>
            </a:r>
            <a:r>
              <a:rPr lang="de-DE" b="0" dirty="0" err="1"/>
              <a:t>llm</a:t>
            </a:r>
            <a:br>
              <a:rPr lang="de-DE" b="0" dirty="0"/>
            </a:br>
            <a:r>
              <a:rPr lang="de-DE" b="0" dirty="0"/>
              <a:t>Methodik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DC47F64-6DED-C1FD-6464-2F0B3EDBB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C4DC1-7D02-4994-BD54-74988B047B41}" type="slidenum">
              <a:rPr lang="de-DE" sz="1600" b="1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9</a:t>
            </a:fld>
            <a:endParaRPr lang="de-DE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B414812-E4DC-7772-62E1-BD10E5AE9C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l"/>
            <a:r>
              <a:rPr lang="de-DE"/>
              <a:t>| PFLICHTENHEFTANALYSE | GRUPPE 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863FF9-445C-8152-2BEB-9AC3B14E0C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3966" y="289552"/>
            <a:ext cx="6159608" cy="5958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1009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CA2B2-F6EB-7D96-D10F-6BBAC7579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95090F-F21B-CD92-7794-C7A2A77FC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Ansatz 2: eigenes RAG-System</a:t>
            </a:r>
            <a:br>
              <a:rPr lang="de-DE"/>
            </a:br>
            <a:r>
              <a:rPr lang="de-DE"/>
              <a:t>Methodik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EE72964-785A-7265-1CCB-E8D57F612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C4DC1-7D02-4994-BD54-74988B047B41}" type="slidenum">
              <a:rPr lang="de-DE" sz="1600" b="1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10</a:t>
            </a:fld>
            <a:endParaRPr lang="de-DE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A9B7007-6EA3-A91B-8FD0-6879F76804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l"/>
            <a:r>
              <a:rPr lang="de-DE"/>
              <a:t>| PFLICHTENHEFTANALYSE | GRUPPE 2</a:t>
            </a:r>
          </a:p>
        </p:txBody>
      </p:sp>
      <p:sp>
        <p:nvSpPr>
          <p:cNvPr id="6" name="Abgerundetes Rechteck 5">
            <a:extLst>
              <a:ext uri="{FF2B5EF4-FFF2-40B4-BE49-F238E27FC236}">
                <a16:creationId xmlns:a16="http://schemas.microsoft.com/office/drawing/2014/main" id="{1762EEB7-9316-A280-1D23-985C6962C3BB}"/>
              </a:ext>
            </a:extLst>
          </p:cNvPr>
          <p:cNvSpPr/>
          <p:nvPr/>
        </p:nvSpPr>
        <p:spPr>
          <a:xfrm>
            <a:off x="94508" y="3419221"/>
            <a:ext cx="1301591" cy="36623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/>
              <a:t>PDF einlesen</a:t>
            </a:r>
            <a:endParaRPr lang="de-DE"/>
          </a:p>
        </p:txBody>
      </p:sp>
      <p:sp>
        <p:nvSpPr>
          <p:cNvPr id="7" name="Abgerundetes Rechteck 6">
            <a:extLst>
              <a:ext uri="{FF2B5EF4-FFF2-40B4-BE49-F238E27FC236}">
                <a16:creationId xmlns:a16="http://schemas.microsoft.com/office/drawing/2014/main" id="{ACABAD12-6C5B-CF38-E788-02DD1817B402}"/>
              </a:ext>
            </a:extLst>
          </p:cNvPr>
          <p:cNvSpPr/>
          <p:nvPr/>
        </p:nvSpPr>
        <p:spPr>
          <a:xfrm>
            <a:off x="1557881" y="3415083"/>
            <a:ext cx="1301591" cy="36623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/>
              <a:t>Multimodale Datenerfassung</a:t>
            </a:r>
          </a:p>
        </p:txBody>
      </p:sp>
      <p:sp>
        <p:nvSpPr>
          <p:cNvPr id="9" name="Abgerundetes Rechteck 8">
            <a:extLst>
              <a:ext uri="{FF2B5EF4-FFF2-40B4-BE49-F238E27FC236}">
                <a16:creationId xmlns:a16="http://schemas.microsoft.com/office/drawing/2014/main" id="{ABC599D4-989C-3BCA-BC55-D3E602971EBB}"/>
              </a:ext>
            </a:extLst>
          </p:cNvPr>
          <p:cNvSpPr/>
          <p:nvPr/>
        </p:nvSpPr>
        <p:spPr>
          <a:xfrm>
            <a:off x="4522543" y="1628826"/>
            <a:ext cx="1755594" cy="669851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/>
              <a:t>Segmentierung + Vektordatenbank</a:t>
            </a:r>
          </a:p>
        </p:txBody>
      </p:sp>
      <p:sp>
        <p:nvSpPr>
          <p:cNvPr id="10" name="Abgerundetes Rechteck 9">
            <a:extLst>
              <a:ext uri="{FF2B5EF4-FFF2-40B4-BE49-F238E27FC236}">
                <a16:creationId xmlns:a16="http://schemas.microsoft.com/office/drawing/2014/main" id="{ABB03F68-DE51-5707-EB36-9528EB4912B5}"/>
              </a:ext>
            </a:extLst>
          </p:cNvPr>
          <p:cNvSpPr/>
          <p:nvPr/>
        </p:nvSpPr>
        <p:spPr>
          <a:xfrm>
            <a:off x="3021254" y="3415082"/>
            <a:ext cx="1301591" cy="36623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/>
              <a:t>Chunking</a:t>
            </a:r>
          </a:p>
        </p:txBody>
      </p:sp>
      <p:sp>
        <p:nvSpPr>
          <p:cNvPr id="11" name="Abgerundetes Rechteck 10">
            <a:extLst>
              <a:ext uri="{FF2B5EF4-FFF2-40B4-BE49-F238E27FC236}">
                <a16:creationId xmlns:a16="http://schemas.microsoft.com/office/drawing/2014/main" id="{BCF23869-CC3D-6A6B-B4E4-3C74210C35FA}"/>
              </a:ext>
            </a:extLst>
          </p:cNvPr>
          <p:cNvSpPr/>
          <p:nvPr/>
        </p:nvSpPr>
        <p:spPr>
          <a:xfrm>
            <a:off x="6592380" y="1628826"/>
            <a:ext cx="1848092" cy="669851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/>
              <a:t>Retrieval</a:t>
            </a:r>
          </a:p>
        </p:txBody>
      </p:sp>
      <p:sp>
        <p:nvSpPr>
          <p:cNvPr id="12" name="Abgerundetes Rechteck 11">
            <a:extLst>
              <a:ext uri="{FF2B5EF4-FFF2-40B4-BE49-F238E27FC236}">
                <a16:creationId xmlns:a16="http://schemas.microsoft.com/office/drawing/2014/main" id="{A75EC803-05F3-CABC-C08E-7A8D0E143E9F}"/>
              </a:ext>
            </a:extLst>
          </p:cNvPr>
          <p:cNvSpPr/>
          <p:nvPr/>
        </p:nvSpPr>
        <p:spPr>
          <a:xfrm>
            <a:off x="8754715" y="1628826"/>
            <a:ext cx="1755594" cy="669851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/>
              <a:t>Augmented Generation</a:t>
            </a:r>
          </a:p>
        </p:txBody>
      </p:sp>
      <p:sp>
        <p:nvSpPr>
          <p:cNvPr id="13" name="Abgerundetes Rechteck 12">
            <a:extLst>
              <a:ext uri="{FF2B5EF4-FFF2-40B4-BE49-F238E27FC236}">
                <a16:creationId xmlns:a16="http://schemas.microsoft.com/office/drawing/2014/main" id="{E5074471-770E-937E-B84E-04D43927FBD7}"/>
              </a:ext>
            </a:extLst>
          </p:cNvPr>
          <p:cNvSpPr/>
          <p:nvPr/>
        </p:nvSpPr>
        <p:spPr>
          <a:xfrm>
            <a:off x="10710007" y="3415082"/>
            <a:ext cx="1387485" cy="36623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/>
              <a:t>INCOSE-Prüfung + Konvertierung</a:t>
            </a:r>
          </a:p>
        </p:txBody>
      </p: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FFDBF820-53EE-63B5-01D7-E1948F261CA4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 flipV="1">
            <a:off x="1396099" y="3598202"/>
            <a:ext cx="161782" cy="413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CB8A4B06-0216-5ABB-6B72-54B60F9A9758}"/>
              </a:ext>
            </a:extLst>
          </p:cNvPr>
          <p:cNvCxnSpPr>
            <a:cxnSpLocks/>
            <a:stCxn id="7" idx="3"/>
            <a:endCxn id="10" idx="1"/>
          </p:cNvCxnSpPr>
          <p:nvPr/>
        </p:nvCxnSpPr>
        <p:spPr>
          <a:xfrm flipV="1">
            <a:off x="2859472" y="3598201"/>
            <a:ext cx="161782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86E7BB20-9A4B-024A-3D71-78D488C4209B}"/>
              </a:ext>
            </a:extLst>
          </p:cNvPr>
          <p:cNvCxnSpPr>
            <a:cxnSpLocks/>
            <a:stCxn id="10" idx="3"/>
            <a:endCxn id="9" idx="1"/>
          </p:cNvCxnSpPr>
          <p:nvPr/>
        </p:nvCxnSpPr>
        <p:spPr>
          <a:xfrm flipV="1">
            <a:off x="4322845" y="1963752"/>
            <a:ext cx="199698" cy="163444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B1FE9C0B-6526-2239-E2A0-7850019013E4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>
            <a:off x="6278137" y="1963752"/>
            <a:ext cx="314243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6E55605A-8EBF-C81D-2CA4-82EC40F13F11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>
            <a:off x="8440472" y="1963752"/>
            <a:ext cx="314243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FD201E9F-6D0B-61EA-D431-3D1B29C59ACB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>
            <a:off x="10510309" y="1963752"/>
            <a:ext cx="199698" cy="163444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30" name="Textfeld 29">
            <a:extLst>
              <a:ext uri="{FF2B5EF4-FFF2-40B4-BE49-F238E27FC236}">
                <a16:creationId xmlns:a16="http://schemas.microsoft.com/office/drawing/2014/main" id="{A0A82367-E12E-DA0B-9B14-23FF3922F4F1}"/>
              </a:ext>
            </a:extLst>
          </p:cNvPr>
          <p:cNvSpPr txBox="1"/>
          <p:nvPr/>
        </p:nvSpPr>
        <p:spPr>
          <a:xfrm>
            <a:off x="4522543" y="2417356"/>
            <a:ext cx="175559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Symbol" pitchFamily="2" charset="2"/>
              <a:buChar char="-"/>
            </a:pPr>
            <a:r>
              <a:rPr lang="de-DE" sz="1200" dirty="0"/>
              <a:t>Umwandlung der Textsegmente in semantische </a:t>
            </a:r>
            <a:r>
              <a:rPr lang="de-DE" sz="1200" dirty="0" err="1"/>
              <a:t>Embeddings</a:t>
            </a:r>
            <a:endParaRPr lang="de-DE" sz="1200" dirty="0"/>
          </a:p>
          <a:p>
            <a:pPr marL="285750" indent="-285750">
              <a:buFont typeface="Symbol" pitchFamily="2" charset="2"/>
              <a:buChar char="-"/>
            </a:pPr>
            <a:r>
              <a:rPr lang="de-DE" sz="1200" dirty="0"/>
              <a:t>Aufbau </a:t>
            </a:r>
            <a:r>
              <a:rPr lang="de-DE" sz="1200"/>
              <a:t>einer Vektordatenbank</a:t>
            </a:r>
            <a:r>
              <a:rPr lang="de-DE" sz="1200" dirty="0"/>
              <a:t> zur effizienten Speicherung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CA2623E7-EEF7-F116-00C0-4BAEE6A96FA1}"/>
              </a:ext>
            </a:extLst>
          </p:cNvPr>
          <p:cNvSpPr txBox="1"/>
          <p:nvPr/>
        </p:nvSpPr>
        <p:spPr>
          <a:xfrm>
            <a:off x="6592380" y="2417356"/>
            <a:ext cx="184809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Symbol" pitchFamily="2" charset="2"/>
              <a:buChar char="-"/>
            </a:pPr>
            <a:r>
              <a:rPr lang="de-DE" sz="1200"/>
              <a:t>Steuerung über themenbasierte Schlüsselwörter</a:t>
            </a:r>
          </a:p>
          <a:p>
            <a:pPr marL="285750" indent="-285750">
              <a:buFont typeface="Symbol" pitchFamily="2" charset="2"/>
              <a:buChar char="-"/>
            </a:pPr>
            <a:r>
              <a:rPr lang="de-DE" sz="1200"/>
              <a:t>Transformation und semantischer Vergleich der Suchanfragen mit den Dokumentvektoren</a:t>
            </a:r>
          </a:p>
          <a:p>
            <a:pPr marL="285750" indent="-285750">
              <a:buFont typeface="Symbol" pitchFamily="2" charset="2"/>
              <a:buChar char="-"/>
            </a:pPr>
            <a:r>
              <a:rPr lang="de-DE" sz="1200"/>
              <a:t>Auswahl der Top-k ähnlichsten Inhalte (k = 15)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BFA9C220-42AC-5B98-5544-6DD403AA4D10}"/>
              </a:ext>
            </a:extLst>
          </p:cNvPr>
          <p:cNvSpPr txBox="1"/>
          <p:nvPr/>
        </p:nvSpPr>
        <p:spPr>
          <a:xfrm>
            <a:off x="8754714" y="2417356"/>
            <a:ext cx="175559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Symbol" pitchFamily="2" charset="2"/>
              <a:buChar char="-"/>
            </a:pPr>
            <a:r>
              <a:rPr lang="de-DE" sz="1200"/>
              <a:t>Erstellung von Anforderungen auf Basis der extrahierten Vektoren </a:t>
            </a:r>
          </a:p>
        </p:txBody>
      </p:sp>
    </p:spTree>
    <p:extLst>
      <p:ext uri="{BB962C8B-B14F-4D97-AF65-F5344CB8AC3E}">
        <p14:creationId xmlns:p14="http://schemas.microsoft.com/office/powerpoint/2010/main" val="20773064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B204DE7-8B14-4B95-25DC-33801F03F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DCB8E7-6342-2AA3-DE5C-4974194BB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Ergänzender </a:t>
            </a:r>
            <a:br>
              <a:rPr lang="de-DE" dirty="0"/>
            </a:br>
            <a:r>
              <a:rPr lang="de-DE" dirty="0"/>
              <a:t>Flow Chart</a:t>
            </a:r>
            <a:br>
              <a:rPr lang="de-DE" dirty="0"/>
            </a:br>
            <a:br>
              <a:rPr lang="de-DE" dirty="0"/>
            </a:br>
            <a:r>
              <a:rPr lang="de-DE" b="0" dirty="0"/>
              <a:t>Ansatz 2: </a:t>
            </a:r>
            <a:br>
              <a:rPr lang="de-DE" b="0" dirty="0"/>
            </a:br>
            <a:r>
              <a:rPr lang="de-DE" b="0" dirty="0"/>
              <a:t>eigenes RAG-System</a:t>
            </a:r>
            <a:br>
              <a:rPr lang="de-DE" b="0" dirty="0"/>
            </a:br>
            <a:r>
              <a:rPr lang="de-DE" b="0" dirty="0"/>
              <a:t>Methodik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63E31C7-BBC1-E525-4412-CCA67DA43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C4DC1-7D02-4994-BD54-74988B047B41}" type="slidenum">
              <a:rPr lang="de-DE" sz="1600" b="1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11</a:t>
            </a:fld>
            <a:endParaRPr lang="de-DE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27BC484-1332-45FD-FC27-6C191DD4F4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l"/>
            <a:r>
              <a:rPr lang="de-DE"/>
              <a:t>| PFLICHTENHEFTANALYSE | GRUPPE 2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BF50295-0921-BD08-8BF5-DDE81E4EB8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8195" y="90536"/>
            <a:ext cx="5783933" cy="6144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2633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2DDE515-7FA1-CB18-C4AC-BE321ACCF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36F384-662D-F6AC-426C-E93A962A7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Ergänzender</a:t>
            </a:r>
            <a:br>
              <a:rPr lang="de-DE" dirty="0"/>
            </a:br>
            <a:r>
              <a:rPr lang="de-DE" dirty="0"/>
              <a:t>Fragenkatalog</a:t>
            </a:r>
            <a:br>
              <a:rPr lang="de-DE" dirty="0"/>
            </a:br>
            <a:br>
              <a:rPr lang="de-DE" dirty="0"/>
            </a:br>
            <a:r>
              <a:rPr lang="de-DE" b="0" dirty="0"/>
              <a:t>Ansatz 2: </a:t>
            </a:r>
            <a:br>
              <a:rPr lang="de-DE" b="0" dirty="0"/>
            </a:br>
            <a:r>
              <a:rPr lang="de-DE" b="0" dirty="0"/>
              <a:t>eigenes RAG-System</a:t>
            </a:r>
            <a:br>
              <a:rPr lang="de-DE" b="0" dirty="0"/>
            </a:br>
            <a:r>
              <a:rPr lang="de-DE" b="0" dirty="0"/>
              <a:t>Methodik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6786CFA-C623-9484-DDD3-EA09A45A1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C4DC1-7D02-4994-BD54-74988B047B41}" type="slidenum">
              <a:rPr lang="de-DE" sz="1600" b="1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12</a:t>
            </a:fld>
            <a:endParaRPr lang="de-DE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1E8128B-4EB5-AC5F-D477-709840C925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l"/>
            <a:r>
              <a:rPr lang="de-DE"/>
              <a:t>| PFLICHTENHEFTANALYSE | GRUPPE 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3C38BC-5CC6-B602-ABFB-1910E8F059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7510" y="82858"/>
            <a:ext cx="5826736" cy="6165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4060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0A4BEA-2BF8-B855-CD26-9EF6133F1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Methodik der Ansätze und Bewertung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8A7C54F-24CE-685C-284A-776FADF34B4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5000" y="1716549"/>
            <a:ext cx="10922000" cy="3327400"/>
          </a:xfrm>
        </p:spPr>
        <p:txBody>
          <a:bodyPr/>
          <a:lstStyle/>
          <a:p>
            <a:pPr marL="342900" indent="-342900">
              <a:buFont typeface="Symbol" pitchFamily="2" charset="2"/>
              <a:buChar char="-"/>
            </a:pPr>
            <a:r>
              <a:rPr lang="de-DE"/>
              <a:t>Qualitative Bewertung</a:t>
            </a:r>
          </a:p>
          <a:p>
            <a:pPr marL="342900" indent="-342900">
              <a:buFont typeface="Symbol" pitchFamily="2" charset="2"/>
              <a:buChar char="-"/>
            </a:pPr>
            <a:r>
              <a:rPr lang="de-DE"/>
              <a:t>Vergleich mit menschlich erstellter Anforderungsliste (Intersubjektive Validierung)</a:t>
            </a:r>
          </a:p>
          <a:p>
            <a:pPr marL="342900" indent="-342900">
              <a:buFont typeface="Symbol" pitchFamily="2" charset="2"/>
              <a:buChar char="-"/>
            </a:pPr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6D18E58-0962-F1B2-8E2E-B977571C0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C4DC1-7D02-4994-BD54-74988B047B41}" type="slidenum">
              <a:rPr lang="de-DE" sz="1600" b="1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13</a:t>
            </a:fld>
            <a:endParaRPr lang="de-DE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593B17D-9A5C-7E25-A24F-8506DFF76E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l"/>
            <a:r>
              <a:rPr lang="de-DE"/>
              <a:t>| PFLICHTENHEFTANALYSE | GRUPPE 2</a:t>
            </a:r>
          </a:p>
        </p:txBody>
      </p:sp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F5031179-A2F5-645A-5786-A684CE29F7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8204613"/>
              </p:ext>
            </p:extLst>
          </p:nvPr>
        </p:nvGraphicFramePr>
        <p:xfrm>
          <a:off x="2282282" y="2767750"/>
          <a:ext cx="7627435" cy="3084119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1904754">
                  <a:extLst>
                    <a:ext uri="{9D8B030D-6E8A-4147-A177-3AD203B41FA5}">
                      <a16:colId xmlns:a16="http://schemas.microsoft.com/office/drawing/2014/main" val="342524177"/>
                    </a:ext>
                  </a:extLst>
                </a:gridCol>
                <a:gridCol w="5722681">
                  <a:extLst>
                    <a:ext uri="{9D8B030D-6E8A-4147-A177-3AD203B41FA5}">
                      <a16:colId xmlns:a16="http://schemas.microsoft.com/office/drawing/2014/main" val="2648442253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200" dirty="0">
                          <a:effectLst/>
                        </a:rPr>
                        <a:t>Kriterium</a:t>
                      </a:r>
                      <a:endParaRPr lang="de-DE" sz="16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200" dirty="0">
                          <a:effectLst/>
                        </a:rPr>
                        <a:t>Erklärung</a:t>
                      </a:r>
                      <a:endParaRPr lang="de-DE" sz="16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2999809099"/>
                  </a:ext>
                </a:extLst>
              </a:tr>
              <a:tr h="456268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200">
                          <a:effectLst/>
                        </a:rPr>
                        <a:t>Rückverfolgbarkeit</a:t>
                      </a:r>
                      <a:endParaRPr lang="de-DE" sz="16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200">
                          <a:effectLst/>
                        </a:rPr>
                        <a:t>Die Anforderung bezieht sich eindeutig auf eine konkrete Aussage oder Textstelle des Pflichtenheftes und lässt sich einwandfrei auf diese zurückführen.</a:t>
                      </a:r>
                      <a:endParaRPr lang="de-DE" sz="16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6716351"/>
                  </a:ext>
                </a:extLst>
              </a:tr>
              <a:tr h="456268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200">
                          <a:effectLst/>
                        </a:rPr>
                        <a:t>Vollständigkeit</a:t>
                      </a:r>
                      <a:endParaRPr lang="de-DE" sz="16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200">
                          <a:effectLst/>
                        </a:rPr>
                        <a:t>Die Anforderung enthält alle für ihre Aussage notwendigen Bestandteile und es fehlen somit keine wesentlichen Informationen aus dem Ursprungsinhalt.</a:t>
                      </a:r>
                      <a:endParaRPr lang="de-DE" sz="16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61204042"/>
                  </a:ext>
                </a:extLst>
              </a:tr>
              <a:tr h="23543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200">
                          <a:effectLst/>
                        </a:rPr>
                        <a:t>Eindeutigkeit</a:t>
                      </a:r>
                      <a:endParaRPr lang="de-DE" sz="16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200">
                          <a:effectLst/>
                        </a:rPr>
                        <a:t>Die Anforderung ist interpretationsarm formuliert.</a:t>
                      </a:r>
                      <a:endParaRPr lang="de-DE" sz="16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35026364"/>
                  </a:ext>
                </a:extLst>
              </a:tr>
              <a:tr h="456268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200">
                          <a:effectLst/>
                        </a:rPr>
                        <a:t>Redundanzfreiheit</a:t>
                      </a:r>
                      <a:endParaRPr lang="de-DE" sz="16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200">
                          <a:effectLst/>
                        </a:rPr>
                        <a:t>Die Anforderung ist nicht doppelt vorhanden oder ist nicht überlappend mit einer anderen Anforderung.</a:t>
                      </a:r>
                      <a:endParaRPr lang="de-DE" sz="16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68425867"/>
                  </a:ext>
                </a:extLst>
              </a:tr>
              <a:tr h="456268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200">
                          <a:effectLst/>
                        </a:rPr>
                        <a:t>Atomarität</a:t>
                      </a:r>
                      <a:endParaRPr lang="de-DE" sz="16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200">
                          <a:effectLst/>
                        </a:rPr>
                        <a:t>Die Anforderung beinhaltet einen klar abgrenzbaren Sachverhalt bzw. eine klar abgrenzbare Forderung.</a:t>
                      </a:r>
                      <a:endParaRPr lang="de-DE" sz="16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84404195"/>
                  </a:ext>
                </a:extLst>
              </a:tr>
              <a:tr h="456268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200">
                          <a:effectLst/>
                        </a:rPr>
                        <a:t>Inhaltliche Präzision</a:t>
                      </a:r>
                      <a:endParaRPr lang="de-DE" sz="16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200">
                          <a:effectLst/>
                        </a:rPr>
                        <a:t>Die Anforderung gibt den Inhalt des Pflichtenheftes semantisch korrekt wieder ohne Informationen zu verfälschen oder unbegründet zu erweitern.</a:t>
                      </a:r>
                      <a:endParaRPr lang="de-DE" sz="16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89394222"/>
                  </a:ext>
                </a:extLst>
              </a:tr>
              <a:tr h="23543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200">
                          <a:effectLst/>
                        </a:rPr>
                        <a:t>Validierungsmethode</a:t>
                      </a:r>
                      <a:endParaRPr lang="de-DE" sz="16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200" dirty="0">
                          <a:effectLst/>
                        </a:rPr>
                        <a:t>Der Anforderung wird eine passende Validierungsmethode zugeordnet.</a:t>
                      </a:r>
                      <a:endParaRPr lang="de-DE" sz="16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953091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51451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D9898-2F1C-DF59-8DF7-80776C0C9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Abgerundetes Rechteck 32">
            <a:extLst>
              <a:ext uri="{FF2B5EF4-FFF2-40B4-BE49-F238E27FC236}">
                <a16:creationId xmlns:a16="http://schemas.microsoft.com/office/drawing/2014/main" id="{257DC838-3258-A480-CC12-E25709254A1B}"/>
              </a:ext>
            </a:extLst>
          </p:cNvPr>
          <p:cNvSpPr/>
          <p:nvPr/>
        </p:nvSpPr>
        <p:spPr>
          <a:xfrm>
            <a:off x="490654" y="1963752"/>
            <a:ext cx="2587083" cy="701389"/>
          </a:xfrm>
          <a:prstGeom prst="roundRect">
            <a:avLst/>
          </a:prstGeom>
          <a:solidFill>
            <a:schemeClr val="accent2">
              <a:alpha val="6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5EBEC4D-6D35-E7E1-5141-280CA9874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38190"/>
            <a:ext cx="10934700" cy="738078"/>
          </a:xfrm>
        </p:spPr>
        <p:txBody>
          <a:bodyPr/>
          <a:lstStyle/>
          <a:p>
            <a:r>
              <a:rPr lang="de-DE" dirty="0"/>
              <a:t>Ergebnisse &amp; Vergleich der Ansätze</a:t>
            </a:r>
            <a:br>
              <a:rPr lang="de-DE" dirty="0"/>
            </a:br>
            <a:r>
              <a:rPr lang="de-DE" b="0" dirty="0"/>
              <a:t>Rückverfolgbarkeit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9F27B59-D41F-6CF9-E94E-8DAAF667F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C4DC1-7D02-4994-BD54-74988B047B41}" type="slidenum">
              <a:rPr lang="de-DE" sz="1600" b="1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14</a:t>
            </a:fld>
            <a:endParaRPr lang="de-DE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32BD4A5-4BC4-6E35-3DA6-DB2B0063EF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l"/>
            <a:r>
              <a:rPr lang="de-DE"/>
              <a:t>| PFLICHTENHEFTANALYSE | GRUPPE 2</a:t>
            </a:r>
          </a:p>
        </p:txBody>
      </p:sp>
      <p:sp>
        <p:nvSpPr>
          <p:cNvPr id="23" name="Textplatzhalter 9">
            <a:extLst>
              <a:ext uri="{FF2B5EF4-FFF2-40B4-BE49-F238E27FC236}">
                <a16:creationId xmlns:a16="http://schemas.microsoft.com/office/drawing/2014/main" id="{7398A7AE-473F-4F88-3E41-595DEF824A3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5000" y="2159000"/>
            <a:ext cx="5105400" cy="400110"/>
          </a:xfrm>
        </p:spPr>
        <p:txBody>
          <a:bodyPr/>
          <a:lstStyle/>
          <a:p>
            <a:r>
              <a:rPr lang="de-DE"/>
              <a:t>Doppelstufiges LLM:</a:t>
            </a:r>
          </a:p>
        </p:txBody>
      </p:sp>
      <p:sp>
        <p:nvSpPr>
          <p:cNvPr id="24" name="Textplatzhalter 10">
            <a:extLst>
              <a:ext uri="{FF2B5EF4-FFF2-40B4-BE49-F238E27FC236}">
                <a16:creationId xmlns:a16="http://schemas.microsoft.com/office/drawing/2014/main" id="{AFECDE57-D6D6-A3C0-AA4D-AF6EDBA708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64300" y="2159000"/>
            <a:ext cx="5105400" cy="400110"/>
          </a:xfrm>
        </p:spPr>
        <p:txBody>
          <a:bodyPr/>
          <a:lstStyle/>
          <a:p>
            <a:r>
              <a:rPr lang="de-DE"/>
              <a:t>Eigenes RAG:</a:t>
            </a:r>
          </a:p>
        </p:txBody>
      </p:sp>
      <p:pic>
        <p:nvPicPr>
          <p:cNvPr id="25" name="Grafik 24" descr="Abzeichen Tick1 mit einfarbiger Füllung">
            <a:extLst>
              <a:ext uri="{FF2B5EF4-FFF2-40B4-BE49-F238E27FC236}">
                <a16:creationId xmlns:a16="http://schemas.microsoft.com/office/drawing/2014/main" id="{79ED1E88-78A1-09DE-BE92-00CC2D9E30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1822" y="2783091"/>
            <a:ext cx="914400" cy="914400"/>
          </a:xfrm>
          <a:prstGeom prst="rect">
            <a:avLst/>
          </a:prstGeom>
        </p:spPr>
      </p:pic>
      <p:pic>
        <p:nvPicPr>
          <p:cNvPr id="26" name="Grafik 25" descr="Markee nicht mehr folgen mit einfarbiger Füllung">
            <a:extLst>
              <a:ext uri="{FF2B5EF4-FFF2-40B4-BE49-F238E27FC236}">
                <a16:creationId xmlns:a16="http://schemas.microsoft.com/office/drawing/2014/main" id="{C6234F96-F811-3BBB-7F6D-A5A0F09031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1822" y="4387573"/>
            <a:ext cx="914400" cy="914400"/>
          </a:xfrm>
          <a:prstGeom prst="rect">
            <a:avLst/>
          </a:prstGeom>
        </p:spPr>
      </p:pic>
      <p:sp>
        <p:nvSpPr>
          <p:cNvPr id="27" name="Textfeld 26">
            <a:extLst>
              <a:ext uri="{FF2B5EF4-FFF2-40B4-BE49-F238E27FC236}">
                <a16:creationId xmlns:a16="http://schemas.microsoft.com/office/drawing/2014/main" id="{1B399FB8-9A97-0F85-76D5-A5A9BCDAEB00}"/>
              </a:ext>
            </a:extLst>
          </p:cNvPr>
          <p:cNvSpPr txBox="1"/>
          <p:nvPr/>
        </p:nvSpPr>
        <p:spPr>
          <a:xfrm>
            <a:off x="1377386" y="3041570"/>
            <a:ext cx="436301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Symbol" pitchFamily="2" charset="2"/>
              <a:buChar char="-"/>
            </a:pPr>
            <a:r>
              <a:rPr lang="de-DE" sz="2000"/>
              <a:t>Klare Zuordnung der Chunks</a:t>
            </a:r>
          </a:p>
          <a:p>
            <a:pPr marL="342900" indent="-342900">
              <a:buFont typeface="Symbol" pitchFamily="2" charset="2"/>
              <a:buChar char="-"/>
            </a:pPr>
            <a:r>
              <a:rPr lang="de-DE" sz="2000"/>
              <a:t>Seitenzahlen  </a:t>
            </a:r>
          </a:p>
          <a:p>
            <a:pPr marL="342900" indent="-342900">
              <a:buFont typeface="Symbol" pitchFamily="2" charset="2"/>
              <a:buChar char="-"/>
            </a:pPr>
            <a:r>
              <a:rPr lang="de-DE" sz="2000"/>
              <a:t>Kapitelnummern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1E2AD16E-269C-F350-1194-2940987D48E2}"/>
              </a:ext>
            </a:extLst>
          </p:cNvPr>
          <p:cNvSpPr txBox="1"/>
          <p:nvPr/>
        </p:nvSpPr>
        <p:spPr>
          <a:xfrm>
            <a:off x="1377386" y="4644718"/>
            <a:ext cx="43630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Symbol" pitchFamily="2" charset="2"/>
              <a:buChar char="-"/>
            </a:pPr>
            <a:r>
              <a:rPr lang="de-DE" sz="2000"/>
              <a:t>Tabellen &amp; Abbildungen</a:t>
            </a:r>
          </a:p>
        </p:txBody>
      </p:sp>
      <p:pic>
        <p:nvPicPr>
          <p:cNvPr id="29" name="Grafik 28" descr="Abzeichen Tick1 mit einfarbiger Füllung">
            <a:extLst>
              <a:ext uri="{FF2B5EF4-FFF2-40B4-BE49-F238E27FC236}">
                <a16:creationId xmlns:a16="http://schemas.microsoft.com/office/drawing/2014/main" id="{AA8AD82A-4CB7-9471-FF0E-A7286D5EBE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0" y="2783091"/>
            <a:ext cx="914400" cy="914400"/>
          </a:xfrm>
          <a:prstGeom prst="rect">
            <a:avLst/>
          </a:prstGeom>
        </p:spPr>
      </p:pic>
      <p:pic>
        <p:nvPicPr>
          <p:cNvPr id="30" name="Grafik 29" descr="Markee nicht mehr folgen mit einfarbiger Füllung">
            <a:extLst>
              <a:ext uri="{FF2B5EF4-FFF2-40B4-BE49-F238E27FC236}">
                <a16:creationId xmlns:a16="http://schemas.microsoft.com/office/drawing/2014/main" id="{EF3543AA-5F1C-FC93-C934-40CE256816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0" y="4387573"/>
            <a:ext cx="914400" cy="914400"/>
          </a:xfrm>
          <a:prstGeom prst="rect">
            <a:avLst/>
          </a:prstGeom>
        </p:spPr>
      </p:pic>
      <p:sp>
        <p:nvSpPr>
          <p:cNvPr id="31" name="Textfeld 30">
            <a:extLst>
              <a:ext uri="{FF2B5EF4-FFF2-40B4-BE49-F238E27FC236}">
                <a16:creationId xmlns:a16="http://schemas.microsoft.com/office/drawing/2014/main" id="{0E1164C6-14FC-9F7B-43DF-22A1FDA279A3}"/>
              </a:ext>
            </a:extLst>
          </p:cNvPr>
          <p:cNvSpPr txBox="1"/>
          <p:nvPr/>
        </p:nvSpPr>
        <p:spPr>
          <a:xfrm>
            <a:off x="7141564" y="3041570"/>
            <a:ext cx="43630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Symbol" pitchFamily="2" charset="2"/>
              <a:buChar char="-"/>
            </a:pPr>
            <a:r>
              <a:rPr lang="de-DE" sz="2000"/>
              <a:t>Seitenzahlen</a:t>
            </a:r>
          </a:p>
          <a:p>
            <a:pPr marL="342900" indent="-342900">
              <a:buFont typeface="Symbol" pitchFamily="2" charset="2"/>
              <a:buChar char="-"/>
            </a:pPr>
            <a:endParaRPr lang="de-DE" sz="2000"/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AB2598C5-5F95-1EDE-4077-9DB8A2088EB1}"/>
              </a:ext>
            </a:extLst>
          </p:cNvPr>
          <p:cNvSpPr txBox="1"/>
          <p:nvPr/>
        </p:nvSpPr>
        <p:spPr>
          <a:xfrm>
            <a:off x="7141564" y="4644718"/>
            <a:ext cx="436301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Symbol" pitchFamily="2" charset="2"/>
              <a:buChar char="-"/>
            </a:pPr>
            <a:r>
              <a:rPr lang="de-DE" sz="2000"/>
              <a:t>Kapitelnummern</a:t>
            </a:r>
          </a:p>
          <a:p>
            <a:pPr marL="342900" indent="-342900">
              <a:buFont typeface="Symbol" pitchFamily="2" charset="2"/>
              <a:buChar char="-"/>
            </a:pPr>
            <a:r>
              <a:rPr lang="de-DE" sz="2000"/>
              <a:t>Chunks</a:t>
            </a:r>
          </a:p>
          <a:p>
            <a:pPr marL="342900" indent="-342900">
              <a:buFont typeface="Symbol" pitchFamily="2" charset="2"/>
              <a:buChar char="-"/>
            </a:pPr>
            <a:r>
              <a:rPr lang="de-DE" sz="2000"/>
              <a:t>Tabellen &amp; Abbildungen</a:t>
            </a:r>
          </a:p>
        </p:txBody>
      </p:sp>
    </p:spTree>
    <p:extLst>
      <p:ext uri="{BB962C8B-B14F-4D97-AF65-F5344CB8AC3E}">
        <p14:creationId xmlns:p14="http://schemas.microsoft.com/office/powerpoint/2010/main" val="920498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AD661-D359-73BF-E80D-112C90EB4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10E085-945F-D744-A496-212DB681C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38190"/>
            <a:ext cx="10934700" cy="738078"/>
          </a:xfrm>
        </p:spPr>
        <p:txBody>
          <a:bodyPr/>
          <a:lstStyle/>
          <a:p>
            <a:r>
              <a:rPr lang="de-DE"/>
              <a:t>Ergebnisse &amp; Vergleich der Ansätze</a:t>
            </a:r>
            <a:br>
              <a:rPr lang="de-DE"/>
            </a:br>
            <a:r>
              <a:rPr lang="de-DE" b="0"/>
              <a:t>Vollständigkeit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9D230B0-2284-568A-FA5F-AC4D01DBF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C4DC1-7D02-4994-BD54-74988B047B41}" type="slidenum">
              <a:rPr lang="de-DE" sz="1600" b="1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15</a:t>
            </a:fld>
            <a:endParaRPr lang="de-DE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967CC66-0D21-052F-22D4-8D88210F21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l"/>
            <a:r>
              <a:rPr lang="de-DE"/>
              <a:t>| PFLICHTENHEFTANALYSE | GRUPPE 2</a:t>
            </a:r>
          </a:p>
        </p:txBody>
      </p:sp>
      <p:sp>
        <p:nvSpPr>
          <p:cNvPr id="23" name="Textplatzhalter 9">
            <a:extLst>
              <a:ext uri="{FF2B5EF4-FFF2-40B4-BE49-F238E27FC236}">
                <a16:creationId xmlns:a16="http://schemas.microsoft.com/office/drawing/2014/main" id="{BD80A885-D00C-A8BC-358F-E901637F62B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5000" y="2159000"/>
            <a:ext cx="5105400" cy="400110"/>
          </a:xfrm>
        </p:spPr>
        <p:txBody>
          <a:bodyPr/>
          <a:lstStyle/>
          <a:p>
            <a:r>
              <a:rPr lang="de-DE"/>
              <a:t>Doppelstufiges LLM:</a:t>
            </a:r>
          </a:p>
        </p:txBody>
      </p:sp>
      <p:sp>
        <p:nvSpPr>
          <p:cNvPr id="24" name="Textplatzhalter 10">
            <a:extLst>
              <a:ext uri="{FF2B5EF4-FFF2-40B4-BE49-F238E27FC236}">
                <a16:creationId xmlns:a16="http://schemas.microsoft.com/office/drawing/2014/main" id="{C028ED79-B547-FCEA-3F44-E39EDDB156B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64300" y="2159000"/>
            <a:ext cx="5105400" cy="400110"/>
          </a:xfrm>
        </p:spPr>
        <p:txBody>
          <a:bodyPr/>
          <a:lstStyle/>
          <a:p>
            <a:r>
              <a:rPr lang="de-DE"/>
              <a:t>Eigenes RAG:</a:t>
            </a:r>
          </a:p>
        </p:txBody>
      </p:sp>
      <p:pic>
        <p:nvPicPr>
          <p:cNvPr id="25" name="Grafik 24" descr="Abzeichen Tick1 mit einfarbiger Füllung">
            <a:extLst>
              <a:ext uri="{FF2B5EF4-FFF2-40B4-BE49-F238E27FC236}">
                <a16:creationId xmlns:a16="http://schemas.microsoft.com/office/drawing/2014/main" id="{3C242F08-EA25-4A24-33F5-7EC9217825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1822" y="2783091"/>
            <a:ext cx="914400" cy="914400"/>
          </a:xfrm>
          <a:prstGeom prst="rect">
            <a:avLst/>
          </a:prstGeom>
        </p:spPr>
      </p:pic>
      <p:pic>
        <p:nvPicPr>
          <p:cNvPr id="26" name="Grafik 25" descr="Markee nicht mehr folgen mit einfarbiger Füllung">
            <a:extLst>
              <a:ext uri="{FF2B5EF4-FFF2-40B4-BE49-F238E27FC236}">
                <a16:creationId xmlns:a16="http://schemas.microsoft.com/office/drawing/2014/main" id="{9FE4393D-13D6-DECF-7B4D-0B712B886F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1822" y="4387573"/>
            <a:ext cx="914400" cy="914400"/>
          </a:xfrm>
          <a:prstGeom prst="rect">
            <a:avLst/>
          </a:prstGeom>
        </p:spPr>
      </p:pic>
      <p:sp>
        <p:nvSpPr>
          <p:cNvPr id="27" name="Textfeld 26">
            <a:extLst>
              <a:ext uri="{FF2B5EF4-FFF2-40B4-BE49-F238E27FC236}">
                <a16:creationId xmlns:a16="http://schemas.microsoft.com/office/drawing/2014/main" id="{F9D5ADCF-32F0-C649-CFCB-17AA0E9B20D5}"/>
              </a:ext>
            </a:extLst>
          </p:cNvPr>
          <p:cNvSpPr txBox="1"/>
          <p:nvPr/>
        </p:nvSpPr>
        <p:spPr>
          <a:xfrm>
            <a:off x="1377386" y="3041570"/>
            <a:ext cx="436301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Symbol" pitchFamily="2" charset="2"/>
              <a:buChar char="-"/>
            </a:pPr>
            <a:r>
              <a:rPr lang="de-DE" sz="2000"/>
              <a:t>Jeder Chunk wird bearbeitet</a:t>
            </a:r>
          </a:p>
          <a:p>
            <a:pPr marL="342900" indent="-342900">
              <a:buFont typeface="Symbol" pitchFamily="2" charset="2"/>
              <a:buChar char="-"/>
            </a:pPr>
            <a:r>
              <a:rPr lang="de-DE" sz="2000"/>
              <a:t>Kontextualisierung realisiert eine erhöhte Anforderungspräzision 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B15AB3C4-0B24-7D63-30AD-F44D8FDA5195}"/>
              </a:ext>
            </a:extLst>
          </p:cNvPr>
          <p:cNvSpPr txBox="1"/>
          <p:nvPr/>
        </p:nvSpPr>
        <p:spPr>
          <a:xfrm>
            <a:off x="1377386" y="4644718"/>
            <a:ext cx="436301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Symbol" pitchFamily="2" charset="2"/>
              <a:buChar char="-"/>
            </a:pPr>
            <a:r>
              <a:rPr lang="de-DE" sz="2000"/>
              <a:t>Tabellen &amp; Überschriften</a:t>
            </a:r>
          </a:p>
          <a:p>
            <a:pPr marL="342900" indent="-342900">
              <a:buFont typeface="Symbol" pitchFamily="2" charset="2"/>
              <a:buChar char="-"/>
            </a:pPr>
            <a:r>
              <a:rPr lang="de-DE" sz="2000"/>
              <a:t>Chunks &lt; 20 Zeichen ignoriert</a:t>
            </a:r>
          </a:p>
          <a:p>
            <a:pPr marL="342900" indent="-342900">
              <a:buFont typeface="Symbol" pitchFamily="2" charset="2"/>
              <a:buChar char="-"/>
            </a:pPr>
            <a:r>
              <a:rPr lang="de-DE" sz="2000"/>
              <a:t>Fehlender Kontext</a:t>
            </a:r>
          </a:p>
        </p:txBody>
      </p:sp>
      <p:pic>
        <p:nvPicPr>
          <p:cNvPr id="29" name="Grafik 28" descr="Abzeichen Tick1 mit einfarbiger Füllung">
            <a:extLst>
              <a:ext uri="{FF2B5EF4-FFF2-40B4-BE49-F238E27FC236}">
                <a16:creationId xmlns:a16="http://schemas.microsoft.com/office/drawing/2014/main" id="{45E22779-C1E4-A73B-FCD1-184FE341E9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0" y="2783091"/>
            <a:ext cx="914400" cy="914400"/>
          </a:xfrm>
          <a:prstGeom prst="rect">
            <a:avLst/>
          </a:prstGeom>
        </p:spPr>
      </p:pic>
      <p:pic>
        <p:nvPicPr>
          <p:cNvPr id="30" name="Grafik 29" descr="Markee nicht mehr folgen mit einfarbiger Füllung">
            <a:extLst>
              <a:ext uri="{FF2B5EF4-FFF2-40B4-BE49-F238E27FC236}">
                <a16:creationId xmlns:a16="http://schemas.microsoft.com/office/drawing/2014/main" id="{6CBA4E2F-2F2C-0A2E-2321-B460685BC1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0" y="4387573"/>
            <a:ext cx="914400" cy="914400"/>
          </a:xfrm>
          <a:prstGeom prst="rect">
            <a:avLst/>
          </a:prstGeom>
        </p:spPr>
      </p:pic>
      <p:sp>
        <p:nvSpPr>
          <p:cNvPr id="32" name="Textfeld 31">
            <a:extLst>
              <a:ext uri="{FF2B5EF4-FFF2-40B4-BE49-F238E27FC236}">
                <a16:creationId xmlns:a16="http://schemas.microsoft.com/office/drawing/2014/main" id="{9C09A5C1-1D86-EC01-FD29-56163E225EAD}"/>
              </a:ext>
            </a:extLst>
          </p:cNvPr>
          <p:cNvSpPr txBox="1"/>
          <p:nvPr/>
        </p:nvSpPr>
        <p:spPr>
          <a:xfrm>
            <a:off x="7141564" y="4644718"/>
            <a:ext cx="436301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Symbol" pitchFamily="2" charset="2"/>
              <a:buChar char="-"/>
            </a:pPr>
            <a:r>
              <a:rPr lang="de-DE" sz="2000"/>
              <a:t>Kapitel werden ausgelassen</a:t>
            </a:r>
          </a:p>
          <a:p>
            <a:pPr marL="342900" indent="-342900">
              <a:buFont typeface="Symbol" pitchFamily="2" charset="2"/>
              <a:buChar char="-"/>
            </a:pPr>
            <a:r>
              <a:rPr lang="de-DE" sz="2000"/>
              <a:t>Fokus auf Seiten 7-10</a:t>
            </a:r>
          </a:p>
          <a:p>
            <a:pPr marL="342900" indent="-342900">
              <a:buFont typeface="Symbol" pitchFamily="2" charset="2"/>
              <a:buChar char="-"/>
            </a:pPr>
            <a:r>
              <a:rPr lang="de-DE" sz="2000"/>
              <a:t>Unwahre Anforderungen (Halluzinationen)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DF4234DE-F7D3-D9F6-B5DB-0974D5956A8E}"/>
              </a:ext>
            </a:extLst>
          </p:cNvPr>
          <p:cNvSpPr/>
          <p:nvPr/>
        </p:nvSpPr>
        <p:spPr>
          <a:xfrm>
            <a:off x="2383848" y="2197528"/>
            <a:ext cx="7437005" cy="32231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u="sng">
                <a:solidFill>
                  <a:schemeClr val="tx1"/>
                </a:solidFill>
              </a:rPr>
              <a:t>Halluzinierte Anforderung:</a:t>
            </a:r>
          </a:p>
          <a:p>
            <a:pPr algn="ctr"/>
            <a:endParaRPr lang="de-DE" sz="2000">
              <a:solidFill>
                <a:schemeClr val="tx1"/>
              </a:solidFill>
            </a:endParaRPr>
          </a:p>
          <a:p>
            <a:pPr algn="ctr"/>
            <a:r>
              <a:rPr lang="de-DE" sz="2000">
                <a:solidFill>
                  <a:schemeClr val="tx1"/>
                </a:solidFill>
              </a:rPr>
              <a:t>„Das System muss so lackiert werden, </a:t>
            </a:r>
          </a:p>
          <a:p>
            <a:pPr algn="ctr"/>
            <a:r>
              <a:rPr lang="de-DE" sz="2000">
                <a:solidFill>
                  <a:schemeClr val="tx1"/>
                </a:solidFill>
              </a:rPr>
              <a:t>dass mindestens 95 % der Systembauteile mit </a:t>
            </a:r>
          </a:p>
          <a:p>
            <a:pPr algn="ctr"/>
            <a:r>
              <a:rPr lang="de-DE" sz="2000">
                <a:solidFill>
                  <a:schemeClr val="tx1"/>
                </a:solidFill>
              </a:rPr>
              <a:t>Epoxidharz-Polyesterpulverlack lackiert werden.“</a:t>
            </a:r>
          </a:p>
        </p:txBody>
      </p:sp>
    </p:spTree>
    <p:extLst>
      <p:ext uri="{BB962C8B-B14F-4D97-AF65-F5344CB8AC3E}">
        <p14:creationId xmlns:p14="http://schemas.microsoft.com/office/powerpoint/2010/main" val="1471460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BC7D1-CC7C-2AF5-38DB-0540218AE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Abgerundetes Rechteck 32">
            <a:extLst>
              <a:ext uri="{FF2B5EF4-FFF2-40B4-BE49-F238E27FC236}">
                <a16:creationId xmlns:a16="http://schemas.microsoft.com/office/drawing/2014/main" id="{FB1F4030-87AD-982F-0314-6F63C793AFD6}"/>
              </a:ext>
            </a:extLst>
          </p:cNvPr>
          <p:cNvSpPr/>
          <p:nvPr/>
        </p:nvSpPr>
        <p:spPr>
          <a:xfrm>
            <a:off x="490654" y="1963752"/>
            <a:ext cx="2587083" cy="701389"/>
          </a:xfrm>
          <a:prstGeom prst="roundRect">
            <a:avLst/>
          </a:prstGeom>
          <a:solidFill>
            <a:schemeClr val="accent2">
              <a:alpha val="6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7EF7B5E-6EEB-C29B-56F1-2783DF275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38190"/>
            <a:ext cx="10934700" cy="738078"/>
          </a:xfrm>
        </p:spPr>
        <p:txBody>
          <a:bodyPr/>
          <a:lstStyle/>
          <a:p>
            <a:r>
              <a:rPr lang="de-DE"/>
              <a:t>Ergebnisse &amp; Vergleich der Ansätze</a:t>
            </a:r>
            <a:br>
              <a:rPr lang="de-DE"/>
            </a:br>
            <a:r>
              <a:rPr lang="de-DE" b="0"/>
              <a:t>Vollständigkeit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4215117-8351-ABE5-050A-1F91AFBFE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C4DC1-7D02-4994-BD54-74988B047B41}" type="slidenum">
              <a:rPr lang="de-DE" sz="1600" b="1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16</a:t>
            </a:fld>
            <a:endParaRPr lang="de-DE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B94E77B-19C9-33E7-040C-A11B65D651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l"/>
            <a:r>
              <a:rPr lang="de-DE"/>
              <a:t>| PFLICHTENHEFTANALYSE | GRUPPE 2</a:t>
            </a:r>
          </a:p>
        </p:txBody>
      </p:sp>
      <p:sp>
        <p:nvSpPr>
          <p:cNvPr id="23" name="Textplatzhalter 9">
            <a:extLst>
              <a:ext uri="{FF2B5EF4-FFF2-40B4-BE49-F238E27FC236}">
                <a16:creationId xmlns:a16="http://schemas.microsoft.com/office/drawing/2014/main" id="{36BA443D-0FD5-80A0-D0A7-DE652C4E07B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5000" y="2159000"/>
            <a:ext cx="5105400" cy="400110"/>
          </a:xfrm>
        </p:spPr>
        <p:txBody>
          <a:bodyPr/>
          <a:lstStyle/>
          <a:p>
            <a:r>
              <a:rPr lang="de-DE"/>
              <a:t>Doppelstufiges LLM:</a:t>
            </a:r>
          </a:p>
        </p:txBody>
      </p:sp>
      <p:sp>
        <p:nvSpPr>
          <p:cNvPr id="24" name="Textplatzhalter 10">
            <a:extLst>
              <a:ext uri="{FF2B5EF4-FFF2-40B4-BE49-F238E27FC236}">
                <a16:creationId xmlns:a16="http://schemas.microsoft.com/office/drawing/2014/main" id="{38AE8275-9958-5EFA-021E-BE8F6EDCA8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64300" y="2159000"/>
            <a:ext cx="5105400" cy="400110"/>
          </a:xfrm>
        </p:spPr>
        <p:txBody>
          <a:bodyPr/>
          <a:lstStyle/>
          <a:p>
            <a:r>
              <a:rPr lang="de-DE"/>
              <a:t>Eigenes RAG:</a:t>
            </a:r>
          </a:p>
        </p:txBody>
      </p:sp>
      <p:pic>
        <p:nvPicPr>
          <p:cNvPr id="25" name="Grafik 24" descr="Abzeichen Tick1 mit einfarbiger Füllung">
            <a:extLst>
              <a:ext uri="{FF2B5EF4-FFF2-40B4-BE49-F238E27FC236}">
                <a16:creationId xmlns:a16="http://schemas.microsoft.com/office/drawing/2014/main" id="{1A87AACC-3919-CC17-956E-195C8E6BA9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1822" y="2783091"/>
            <a:ext cx="914400" cy="914400"/>
          </a:xfrm>
          <a:prstGeom prst="rect">
            <a:avLst/>
          </a:prstGeom>
        </p:spPr>
      </p:pic>
      <p:pic>
        <p:nvPicPr>
          <p:cNvPr id="26" name="Grafik 25" descr="Markee nicht mehr folgen mit einfarbiger Füllung">
            <a:extLst>
              <a:ext uri="{FF2B5EF4-FFF2-40B4-BE49-F238E27FC236}">
                <a16:creationId xmlns:a16="http://schemas.microsoft.com/office/drawing/2014/main" id="{7E7C8E88-5953-AEDF-3504-AE8B07052A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1822" y="4387573"/>
            <a:ext cx="914400" cy="914400"/>
          </a:xfrm>
          <a:prstGeom prst="rect">
            <a:avLst/>
          </a:prstGeom>
        </p:spPr>
      </p:pic>
      <p:sp>
        <p:nvSpPr>
          <p:cNvPr id="27" name="Textfeld 26">
            <a:extLst>
              <a:ext uri="{FF2B5EF4-FFF2-40B4-BE49-F238E27FC236}">
                <a16:creationId xmlns:a16="http://schemas.microsoft.com/office/drawing/2014/main" id="{B98022B2-A2F7-E6C6-19A9-E7809D4EC93A}"/>
              </a:ext>
            </a:extLst>
          </p:cNvPr>
          <p:cNvSpPr txBox="1"/>
          <p:nvPr/>
        </p:nvSpPr>
        <p:spPr>
          <a:xfrm>
            <a:off x="1377386" y="3041570"/>
            <a:ext cx="436301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Symbol" pitchFamily="2" charset="2"/>
              <a:buChar char="-"/>
            </a:pPr>
            <a:r>
              <a:rPr lang="de-DE" sz="2000"/>
              <a:t>Jeder Chunk wird bearbeitet</a:t>
            </a:r>
          </a:p>
          <a:p>
            <a:pPr marL="342900" indent="-342900">
              <a:buFont typeface="Symbol" pitchFamily="2" charset="2"/>
              <a:buChar char="-"/>
            </a:pPr>
            <a:r>
              <a:rPr lang="de-DE" sz="2000"/>
              <a:t>Kontextualisierung realisiert eine erhöhte Anforderungspräzision 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ACEBF6F4-CA35-D750-844B-F3463688506A}"/>
              </a:ext>
            </a:extLst>
          </p:cNvPr>
          <p:cNvSpPr txBox="1"/>
          <p:nvPr/>
        </p:nvSpPr>
        <p:spPr>
          <a:xfrm>
            <a:off x="1377386" y="4644718"/>
            <a:ext cx="436301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Symbol" pitchFamily="2" charset="2"/>
              <a:buChar char="-"/>
            </a:pPr>
            <a:r>
              <a:rPr lang="de-DE" sz="2000"/>
              <a:t>Tabellen &amp; Überschriften</a:t>
            </a:r>
          </a:p>
          <a:p>
            <a:pPr marL="342900" indent="-342900">
              <a:buFont typeface="Symbol" pitchFamily="2" charset="2"/>
              <a:buChar char="-"/>
            </a:pPr>
            <a:r>
              <a:rPr lang="de-DE" sz="2000"/>
              <a:t>Chunks &lt; 20 Zeichen ignoriert</a:t>
            </a:r>
          </a:p>
          <a:p>
            <a:pPr marL="342900" indent="-342900">
              <a:buFont typeface="Symbol" pitchFamily="2" charset="2"/>
              <a:buChar char="-"/>
            </a:pPr>
            <a:r>
              <a:rPr lang="de-DE" sz="2000"/>
              <a:t>Fehlender Kontext</a:t>
            </a:r>
          </a:p>
        </p:txBody>
      </p:sp>
      <p:pic>
        <p:nvPicPr>
          <p:cNvPr id="29" name="Grafik 28" descr="Abzeichen Tick1 mit einfarbiger Füllung">
            <a:extLst>
              <a:ext uri="{FF2B5EF4-FFF2-40B4-BE49-F238E27FC236}">
                <a16:creationId xmlns:a16="http://schemas.microsoft.com/office/drawing/2014/main" id="{FE9814CF-FEE9-4CC5-30F6-F4F6DAC0F1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0" y="2783091"/>
            <a:ext cx="914400" cy="914400"/>
          </a:xfrm>
          <a:prstGeom prst="rect">
            <a:avLst/>
          </a:prstGeom>
        </p:spPr>
      </p:pic>
      <p:pic>
        <p:nvPicPr>
          <p:cNvPr id="30" name="Grafik 29" descr="Markee nicht mehr folgen mit einfarbiger Füllung">
            <a:extLst>
              <a:ext uri="{FF2B5EF4-FFF2-40B4-BE49-F238E27FC236}">
                <a16:creationId xmlns:a16="http://schemas.microsoft.com/office/drawing/2014/main" id="{2D20FD27-D373-4C08-D924-EC0C241B4F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0" y="4387573"/>
            <a:ext cx="914400" cy="914400"/>
          </a:xfrm>
          <a:prstGeom prst="rect">
            <a:avLst/>
          </a:prstGeom>
        </p:spPr>
      </p:pic>
      <p:sp>
        <p:nvSpPr>
          <p:cNvPr id="32" name="Textfeld 31">
            <a:extLst>
              <a:ext uri="{FF2B5EF4-FFF2-40B4-BE49-F238E27FC236}">
                <a16:creationId xmlns:a16="http://schemas.microsoft.com/office/drawing/2014/main" id="{FEDE2F68-38A8-ED87-2338-74FBF71CC978}"/>
              </a:ext>
            </a:extLst>
          </p:cNvPr>
          <p:cNvSpPr txBox="1"/>
          <p:nvPr/>
        </p:nvSpPr>
        <p:spPr>
          <a:xfrm>
            <a:off x="7141564" y="4644718"/>
            <a:ext cx="436301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Symbol" pitchFamily="2" charset="2"/>
              <a:buChar char="-"/>
            </a:pPr>
            <a:r>
              <a:rPr lang="de-DE" sz="2000"/>
              <a:t>Kapitel werden ausgelassen</a:t>
            </a:r>
          </a:p>
          <a:p>
            <a:pPr marL="342900" indent="-342900">
              <a:buFont typeface="Symbol" pitchFamily="2" charset="2"/>
              <a:buChar char="-"/>
            </a:pPr>
            <a:r>
              <a:rPr lang="de-DE" sz="2000"/>
              <a:t>Fokus auf Seiten 7-10</a:t>
            </a:r>
          </a:p>
          <a:p>
            <a:pPr marL="342900" indent="-342900">
              <a:buFont typeface="Symbol" pitchFamily="2" charset="2"/>
              <a:buChar char="-"/>
            </a:pPr>
            <a:r>
              <a:rPr lang="de-DE" sz="2000"/>
              <a:t>Unwahre Anforderungen (Halluzinationen)</a:t>
            </a:r>
          </a:p>
        </p:txBody>
      </p:sp>
    </p:spTree>
    <p:extLst>
      <p:ext uri="{BB962C8B-B14F-4D97-AF65-F5344CB8AC3E}">
        <p14:creationId xmlns:p14="http://schemas.microsoft.com/office/powerpoint/2010/main" val="1726572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D3E9E-27A9-D2D0-BC24-B7206C7D8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Abgerundetes Rechteck 32">
            <a:extLst>
              <a:ext uri="{FF2B5EF4-FFF2-40B4-BE49-F238E27FC236}">
                <a16:creationId xmlns:a16="http://schemas.microsoft.com/office/drawing/2014/main" id="{EF793083-C4D4-4BAF-8694-16C7B110E46F}"/>
              </a:ext>
            </a:extLst>
          </p:cNvPr>
          <p:cNvSpPr/>
          <p:nvPr/>
        </p:nvSpPr>
        <p:spPr>
          <a:xfrm>
            <a:off x="490654" y="1963752"/>
            <a:ext cx="2587083" cy="701389"/>
          </a:xfrm>
          <a:prstGeom prst="roundRect">
            <a:avLst/>
          </a:prstGeom>
          <a:solidFill>
            <a:schemeClr val="accent2">
              <a:alpha val="6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A9A27E2-BF9C-5E12-9C19-CDA3AFB72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38189"/>
            <a:ext cx="10934700" cy="701389"/>
          </a:xfrm>
        </p:spPr>
        <p:txBody>
          <a:bodyPr/>
          <a:lstStyle/>
          <a:p>
            <a:r>
              <a:rPr lang="de-DE" dirty="0"/>
              <a:t>Ergebnisse &amp; Vergleich der Ansätze</a:t>
            </a:r>
            <a:br>
              <a:rPr lang="de-DE" dirty="0"/>
            </a:br>
            <a:r>
              <a:rPr lang="de-DE" b="0" dirty="0"/>
              <a:t>Eindeutigkeit</a:t>
            </a:r>
            <a:br>
              <a:rPr lang="de-DE" dirty="0"/>
            </a:b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40C741C-6AEA-52AA-A65D-A1517F44A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C4DC1-7D02-4994-BD54-74988B047B41}" type="slidenum">
              <a:rPr lang="de-DE" sz="1600" b="1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17</a:t>
            </a:fld>
            <a:endParaRPr lang="de-DE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39F299-EEAF-4B61-A36D-E2076D909B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l"/>
            <a:r>
              <a:rPr lang="de-DE"/>
              <a:t>| PFLICHTENHEFTANALYSE | GRUPPE 2</a:t>
            </a:r>
          </a:p>
        </p:txBody>
      </p:sp>
      <p:sp>
        <p:nvSpPr>
          <p:cNvPr id="23" name="Textplatzhalter 9">
            <a:extLst>
              <a:ext uri="{FF2B5EF4-FFF2-40B4-BE49-F238E27FC236}">
                <a16:creationId xmlns:a16="http://schemas.microsoft.com/office/drawing/2014/main" id="{3368E2CE-AE7E-58D8-18D5-FDEAFF60846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5000" y="2159000"/>
            <a:ext cx="5105400" cy="400110"/>
          </a:xfrm>
        </p:spPr>
        <p:txBody>
          <a:bodyPr/>
          <a:lstStyle/>
          <a:p>
            <a:r>
              <a:rPr lang="de-DE"/>
              <a:t>Doppelstufiges LLM:</a:t>
            </a:r>
          </a:p>
        </p:txBody>
      </p:sp>
      <p:sp>
        <p:nvSpPr>
          <p:cNvPr id="24" name="Textplatzhalter 10">
            <a:extLst>
              <a:ext uri="{FF2B5EF4-FFF2-40B4-BE49-F238E27FC236}">
                <a16:creationId xmlns:a16="http://schemas.microsoft.com/office/drawing/2014/main" id="{5FE451A4-2474-3DE8-50F8-736C28685A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64300" y="2159000"/>
            <a:ext cx="5105400" cy="400110"/>
          </a:xfrm>
        </p:spPr>
        <p:txBody>
          <a:bodyPr/>
          <a:lstStyle/>
          <a:p>
            <a:r>
              <a:rPr lang="de-DE"/>
              <a:t>Eigenes RAG:</a:t>
            </a:r>
          </a:p>
        </p:txBody>
      </p:sp>
      <p:pic>
        <p:nvPicPr>
          <p:cNvPr id="25" name="Grafik 24" descr="Abzeichen Tick1 mit einfarbiger Füllung">
            <a:extLst>
              <a:ext uri="{FF2B5EF4-FFF2-40B4-BE49-F238E27FC236}">
                <a16:creationId xmlns:a16="http://schemas.microsoft.com/office/drawing/2014/main" id="{F5C15B2D-188E-03B2-7E92-6A3E0511C7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1822" y="2783091"/>
            <a:ext cx="914400" cy="914400"/>
          </a:xfrm>
          <a:prstGeom prst="rect">
            <a:avLst/>
          </a:prstGeom>
        </p:spPr>
      </p:pic>
      <p:pic>
        <p:nvPicPr>
          <p:cNvPr id="26" name="Grafik 25" descr="Markee nicht mehr folgen mit einfarbiger Füllung">
            <a:extLst>
              <a:ext uri="{FF2B5EF4-FFF2-40B4-BE49-F238E27FC236}">
                <a16:creationId xmlns:a16="http://schemas.microsoft.com/office/drawing/2014/main" id="{1C98ABDE-2169-8521-ECB1-B5C686A3D2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1822" y="4387573"/>
            <a:ext cx="914400" cy="914400"/>
          </a:xfrm>
          <a:prstGeom prst="rect">
            <a:avLst/>
          </a:prstGeom>
        </p:spPr>
      </p:pic>
      <p:pic>
        <p:nvPicPr>
          <p:cNvPr id="29" name="Grafik 28" descr="Abzeichen Tick1 mit einfarbiger Füllung">
            <a:extLst>
              <a:ext uri="{FF2B5EF4-FFF2-40B4-BE49-F238E27FC236}">
                <a16:creationId xmlns:a16="http://schemas.microsoft.com/office/drawing/2014/main" id="{2C845070-58A7-40A9-9CC4-40C6979C84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0" y="2783091"/>
            <a:ext cx="914400" cy="914400"/>
          </a:xfrm>
          <a:prstGeom prst="rect">
            <a:avLst/>
          </a:prstGeom>
        </p:spPr>
      </p:pic>
      <p:pic>
        <p:nvPicPr>
          <p:cNvPr id="30" name="Grafik 29" descr="Markee nicht mehr folgen mit einfarbiger Füllung">
            <a:extLst>
              <a:ext uri="{FF2B5EF4-FFF2-40B4-BE49-F238E27FC236}">
                <a16:creationId xmlns:a16="http://schemas.microsoft.com/office/drawing/2014/main" id="{4EE3DB8F-AB45-A3A5-EE52-06279CF277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0" y="4387573"/>
            <a:ext cx="914400" cy="914400"/>
          </a:xfrm>
          <a:prstGeom prst="rect">
            <a:avLst/>
          </a:prstGeom>
        </p:spPr>
      </p:pic>
      <p:sp>
        <p:nvSpPr>
          <p:cNvPr id="32" name="Textfeld 31">
            <a:extLst>
              <a:ext uri="{FF2B5EF4-FFF2-40B4-BE49-F238E27FC236}">
                <a16:creationId xmlns:a16="http://schemas.microsoft.com/office/drawing/2014/main" id="{6D21E06A-97E2-AFE7-0F6C-B9EAE32D7D66}"/>
              </a:ext>
            </a:extLst>
          </p:cNvPr>
          <p:cNvSpPr txBox="1"/>
          <p:nvPr/>
        </p:nvSpPr>
        <p:spPr>
          <a:xfrm>
            <a:off x="7141564" y="4644718"/>
            <a:ext cx="43630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Symbol" pitchFamily="2" charset="2"/>
              <a:buChar char="-"/>
            </a:pPr>
            <a:r>
              <a:rPr lang="de-DE" sz="2000"/>
              <a:t>Beginnt mit „Das System…“</a:t>
            </a: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1DE10BB6-9D21-C1F3-B509-742F9B8B81CD}"/>
              </a:ext>
            </a:extLst>
          </p:cNvPr>
          <p:cNvSpPr txBox="1"/>
          <p:nvPr/>
        </p:nvSpPr>
        <p:spPr>
          <a:xfrm>
            <a:off x="1377386" y="3041570"/>
            <a:ext cx="43630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Symbol" pitchFamily="2" charset="2"/>
              <a:buChar char="-"/>
            </a:pPr>
            <a:r>
              <a:rPr lang="de-DE" sz="2000"/>
              <a:t>Eindeutige Anforderungen</a:t>
            </a:r>
          </a:p>
        </p:txBody>
      </p:sp>
    </p:spTree>
    <p:extLst>
      <p:ext uri="{BB962C8B-B14F-4D97-AF65-F5344CB8AC3E}">
        <p14:creationId xmlns:p14="http://schemas.microsoft.com/office/powerpoint/2010/main" val="81764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1BF5C-0BD6-3F21-FA7E-E40263583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Abgerundetes Rechteck 32">
            <a:extLst>
              <a:ext uri="{FF2B5EF4-FFF2-40B4-BE49-F238E27FC236}">
                <a16:creationId xmlns:a16="http://schemas.microsoft.com/office/drawing/2014/main" id="{7F7E8BC0-5565-8890-4FA7-E7370322A825}"/>
              </a:ext>
            </a:extLst>
          </p:cNvPr>
          <p:cNvSpPr/>
          <p:nvPr/>
        </p:nvSpPr>
        <p:spPr>
          <a:xfrm>
            <a:off x="490654" y="1963752"/>
            <a:ext cx="2587083" cy="701389"/>
          </a:xfrm>
          <a:prstGeom prst="roundRect">
            <a:avLst/>
          </a:prstGeom>
          <a:solidFill>
            <a:schemeClr val="accent2">
              <a:alpha val="6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ECC3DB2-7189-67A0-0436-EA192670C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38189"/>
            <a:ext cx="10934700" cy="701389"/>
          </a:xfrm>
        </p:spPr>
        <p:txBody>
          <a:bodyPr/>
          <a:lstStyle/>
          <a:p>
            <a:r>
              <a:rPr lang="de-DE" dirty="0"/>
              <a:t>Ergebnisse &amp; Vergleich der Ansätze</a:t>
            </a:r>
            <a:br>
              <a:rPr lang="de-DE" dirty="0"/>
            </a:br>
            <a:r>
              <a:rPr lang="de-DE" b="0" dirty="0"/>
              <a:t>Redundanzfreiheit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A777BFF-2DAA-CD0E-F894-F11B0FDAB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C4DC1-7D02-4994-BD54-74988B047B41}" type="slidenum">
              <a:rPr lang="de-DE" sz="1600" b="1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18</a:t>
            </a:fld>
            <a:endParaRPr lang="de-DE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F19D9C8-2A88-59BC-7595-894E201F73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l"/>
            <a:r>
              <a:rPr lang="de-DE"/>
              <a:t>| PFLICHTENHEFTANALYSE | GRUPPE 2</a:t>
            </a:r>
          </a:p>
        </p:txBody>
      </p:sp>
      <p:sp>
        <p:nvSpPr>
          <p:cNvPr id="23" name="Textplatzhalter 9">
            <a:extLst>
              <a:ext uri="{FF2B5EF4-FFF2-40B4-BE49-F238E27FC236}">
                <a16:creationId xmlns:a16="http://schemas.microsoft.com/office/drawing/2014/main" id="{89E57289-F344-38F9-9FDD-9D9339B408D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5000" y="2159000"/>
            <a:ext cx="5105400" cy="400110"/>
          </a:xfrm>
        </p:spPr>
        <p:txBody>
          <a:bodyPr/>
          <a:lstStyle/>
          <a:p>
            <a:r>
              <a:rPr lang="de-DE"/>
              <a:t>Doppelstufiges LLM:</a:t>
            </a:r>
          </a:p>
        </p:txBody>
      </p:sp>
      <p:sp>
        <p:nvSpPr>
          <p:cNvPr id="24" name="Textplatzhalter 10">
            <a:extLst>
              <a:ext uri="{FF2B5EF4-FFF2-40B4-BE49-F238E27FC236}">
                <a16:creationId xmlns:a16="http://schemas.microsoft.com/office/drawing/2014/main" id="{CDF4C633-C7FE-2839-38E5-B8792E05F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64300" y="2159000"/>
            <a:ext cx="5105400" cy="400110"/>
          </a:xfrm>
        </p:spPr>
        <p:txBody>
          <a:bodyPr/>
          <a:lstStyle/>
          <a:p>
            <a:r>
              <a:rPr lang="de-DE"/>
              <a:t>Eigenes RAG:</a:t>
            </a:r>
          </a:p>
        </p:txBody>
      </p:sp>
      <p:pic>
        <p:nvPicPr>
          <p:cNvPr id="25" name="Grafik 24" descr="Abzeichen Tick1 mit einfarbiger Füllung">
            <a:extLst>
              <a:ext uri="{FF2B5EF4-FFF2-40B4-BE49-F238E27FC236}">
                <a16:creationId xmlns:a16="http://schemas.microsoft.com/office/drawing/2014/main" id="{BBCE8EFC-F09E-794B-AB94-D5D35CE37E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1822" y="2783091"/>
            <a:ext cx="914400" cy="914400"/>
          </a:xfrm>
          <a:prstGeom prst="rect">
            <a:avLst/>
          </a:prstGeom>
        </p:spPr>
      </p:pic>
      <p:pic>
        <p:nvPicPr>
          <p:cNvPr id="26" name="Grafik 25" descr="Markee nicht mehr folgen mit einfarbiger Füllung">
            <a:extLst>
              <a:ext uri="{FF2B5EF4-FFF2-40B4-BE49-F238E27FC236}">
                <a16:creationId xmlns:a16="http://schemas.microsoft.com/office/drawing/2014/main" id="{BDC2F4E2-7907-8322-0A3A-721A91699C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1822" y="4387573"/>
            <a:ext cx="914400" cy="914400"/>
          </a:xfrm>
          <a:prstGeom prst="rect">
            <a:avLst/>
          </a:prstGeom>
        </p:spPr>
      </p:pic>
      <p:sp>
        <p:nvSpPr>
          <p:cNvPr id="28" name="Textfeld 27">
            <a:extLst>
              <a:ext uri="{FF2B5EF4-FFF2-40B4-BE49-F238E27FC236}">
                <a16:creationId xmlns:a16="http://schemas.microsoft.com/office/drawing/2014/main" id="{6CCF69FD-B783-2A55-662A-5FE3DFF61326}"/>
              </a:ext>
            </a:extLst>
          </p:cNvPr>
          <p:cNvSpPr txBox="1"/>
          <p:nvPr/>
        </p:nvSpPr>
        <p:spPr>
          <a:xfrm>
            <a:off x="1377386" y="4644718"/>
            <a:ext cx="43630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Symbol" pitchFamily="2" charset="2"/>
              <a:buChar char="-"/>
            </a:pPr>
            <a:r>
              <a:rPr lang="de-DE" sz="2000"/>
              <a:t>Mehrere Dopplungen durch Angabe in Text &amp; Tabelle</a:t>
            </a:r>
          </a:p>
        </p:txBody>
      </p:sp>
      <p:pic>
        <p:nvPicPr>
          <p:cNvPr id="29" name="Grafik 28" descr="Abzeichen Tick1 mit einfarbiger Füllung">
            <a:extLst>
              <a:ext uri="{FF2B5EF4-FFF2-40B4-BE49-F238E27FC236}">
                <a16:creationId xmlns:a16="http://schemas.microsoft.com/office/drawing/2014/main" id="{F95E762F-53FE-4D54-2B9A-568DF5E880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0" y="2783091"/>
            <a:ext cx="914400" cy="914400"/>
          </a:xfrm>
          <a:prstGeom prst="rect">
            <a:avLst/>
          </a:prstGeom>
        </p:spPr>
      </p:pic>
      <p:pic>
        <p:nvPicPr>
          <p:cNvPr id="30" name="Grafik 29" descr="Markee nicht mehr folgen mit einfarbiger Füllung">
            <a:extLst>
              <a:ext uri="{FF2B5EF4-FFF2-40B4-BE49-F238E27FC236}">
                <a16:creationId xmlns:a16="http://schemas.microsoft.com/office/drawing/2014/main" id="{D611420D-E59E-86AE-2166-BF22EA442D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0" y="4387573"/>
            <a:ext cx="914400" cy="914400"/>
          </a:xfrm>
          <a:prstGeom prst="rect">
            <a:avLst/>
          </a:prstGeom>
        </p:spPr>
      </p:pic>
      <p:sp>
        <p:nvSpPr>
          <p:cNvPr id="32" name="Textfeld 31">
            <a:extLst>
              <a:ext uri="{FF2B5EF4-FFF2-40B4-BE49-F238E27FC236}">
                <a16:creationId xmlns:a16="http://schemas.microsoft.com/office/drawing/2014/main" id="{C85C45F6-B5C3-9854-5BE4-8463BAAE10B8}"/>
              </a:ext>
            </a:extLst>
          </p:cNvPr>
          <p:cNvSpPr txBox="1"/>
          <p:nvPr/>
        </p:nvSpPr>
        <p:spPr>
          <a:xfrm>
            <a:off x="7141564" y="4644718"/>
            <a:ext cx="43630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Symbol" pitchFamily="2" charset="2"/>
              <a:buChar char="-"/>
            </a:pPr>
            <a:r>
              <a:rPr lang="de-DE" sz="2000"/>
              <a:t>Mehrere Dopplungen </a:t>
            </a:r>
          </a:p>
          <a:p>
            <a:r>
              <a:rPr lang="de-DE" sz="2000"/>
              <a:t>     (5 Anforderungen fast identisch)</a:t>
            </a:r>
          </a:p>
        </p:txBody>
      </p:sp>
    </p:spTree>
    <p:extLst>
      <p:ext uri="{BB962C8B-B14F-4D97-AF65-F5344CB8AC3E}">
        <p14:creationId xmlns:p14="http://schemas.microsoft.com/office/powerpoint/2010/main" val="143219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AB98C-FFF9-0753-EB10-09FF91631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bgerundetes Rechteck 2">
            <a:extLst>
              <a:ext uri="{FF2B5EF4-FFF2-40B4-BE49-F238E27FC236}">
                <a16:creationId xmlns:a16="http://schemas.microsoft.com/office/drawing/2014/main" id="{F89E85C3-187C-24ED-EC57-281BE4210BD1}"/>
              </a:ext>
            </a:extLst>
          </p:cNvPr>
          <p:cNvSpPr/>
          <p:nvPr/>
        </p:nvSpPr>
        <p:spPr>
          <a:xfrm>
            <a:off x="490654" y="1963752"/>
            <a:ext cx="2587083" cy="701389"/>
          </a:xfrm>
          <a:prstGeom prst="roundRect">
            <a:avLst/>
          </a:prstGeom>
          <a:solidFill>
            <a:schemeClr val="accent2">
              <a:alpha val="6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3FD6CCE-7C07-A3C5-9713-585EBD682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38190"/>
            <a:ext cx="10934700" cy="707886"/>
          </a:xfrm>
        </p:spPr>
        <p:txBody>
          <a:bodyPr/>
          <a:lstStyle/>
          <a:p>
            <a:r>
              <a:rPr lang="de-DE" dirty="0"/>
              <a:t>Ergebnisse &amp; Vergleich der Ansätze</a:t>
            </a:r>
            <a:br>
              <a:rPr lang="de-DE" dirty="0"/>
            </a:br>
            <a:r>
              <a:rPr lang="de-DE" b="0" dirty="0" err="1"/>
              <a:t>Atomarität</a:t>
            </a:r>
            <a:endParaRPr lang="de-DE" b="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B49C13D-6282-6BD4-A081-B8B081395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C4DC1-7D02-4994-BD54-74988B047B41}" type="slidenum">
              <a:rPr lang="de-DE" sz="1600" b="1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19</a:t>
            </a:fld>
            <a:endParaRPr lang="de-DE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FD43D31-EFA6-0C98-C61A-437C7A04B4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l"/>
            <a:r>
              <a:rPr lang="de-DE"/>
              <a:t>| PFLICHTENHEFTANALYSE | GRUPPE 2</a:t>
            </a:r>
          </a:p>
        </p:txBody>
      </p:sp>
      <p:sp>
        <p:nvSpPr>
          <p:cNvPr id="33" name="Textplatzhalter 9">
            <a:extLst>
              <a:ext uri="{FF2B5EF4-FFF2-40B4-BE49-F238E27FC236}">
                <a16:creationId xmlns:a16="http://schemas.microsoft.com/office/drawing/2014/main" id="{D648CCC9-8843-569B-D6B5-D9BA3FE0143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5000" y="2159000"/>
            <a:ext cx="5105400" cy="400110"/>
          </a:xfrm>
        </p:spPr>
        <p:txBody>
          <a:bodyPr/>
          <a:lstStyle/>
          <a:p>
            <a:r>
              <a:rPr lang="de-DE"/>
              <a:t>Doppelstufiges LLM:</a:t>
            </a:r>
          </a:p>
        </p:txBody>
      </p:sp>
      <p:sp>
        <p:nvSpPr>
          <p:cNvPr id="34" name="Textplatzhalter 10">
            <a:extLst>
              <a:ext uri="{FF2B5EF4-FFF2-40B4-BE49-F238E27FC236}">
                <a16:creationId xmlns:a16="http://schemas.microsoft.com/office/drawing/2014/main" id="{83066C20-3641-4EA8-5666-479FFB88597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64300" y="2159000"/>
            <a:ext cx="5105400" cy="400110"/>
          </a:xfrm>
        </p:spPr>
        <p:txBody>
          <a:bodyPr/>
          <a:lstStyle/>
          <a:p>
            <a:r>
              <a:rPr lang="de-DE"/>
              <a:t>Eigenes RAG:</a:t>
            </a:r>
          </a:p>
        </p:txBody>
      </p:sp>
      <p:pic>
        <p:nvPicPr>
          <p:cNvPr id="35" name="Grafik 34" descr="Abzeichen Tick1 mit einfarbiger Füllung">
            <a:extLst>
              <a:ext uri="{FF2B5EF4-FFF2-40B4-BE49-F238E27FC236}">
                <a16:creationId xmlns:a16="http://schemas.microsoft.com/office/drawing/2014/main" id="{B4C37B88-CEE9-EA16-38AE-04FEEAE54D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1822" y="2783091"/>
            <a:ext cx="914400" cy="914400"/>
          </a:xfrm>
          <a:prstGeom prst="rect">
            <a:avLst/>
          </a:prstGeom>
        </p:spPr>
      </p:pic>
      <p:pic>
        <p:nvPicPr>
          <p:cNvPr id="36" name="Grafik 35" descr="Markee nicht mehr folgen mit einfarbiger Füllung">
            <a:extLst>
              <a:ext uri="{FF2B5EF4-FFF2-40B4-BE49-F238E27FC236}">
                <a16:creationId xmlns:a16="http://schemas.microsoft.com/office/drawing/2014/main" id="{16E29682-3450-5E32-2E73-9514633BDC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1822" y="4387573"/>
            <a:ext cx="914400" cy="914400"/>
          </a:xfrm>
          <a:prstGeom prst="rect">
            <a:avLst/>
          </a:prstGeom>
        </p:spPr>
      </p:pic>
      <p:sp>
        <p:nvSpPr>
          <p:cNvPr id="38" name="Textfeld 37">
            <a:extLst>
              <a:ext uri="{FF2B5EF4-FFF2-40B4-BE49-F238E27FC236}">
                <a16:creationId xmlns:a16="http://schemas.microsoft.com/office/drawing/2014/main" id="{8386E1E8-0278-BCA4-646A-334947C27E3C}"/>
              </a:ext>
            </a:extLst>
          </p:cNvPr>
          <p:cNvSpPr txBox="1"/>
          <p:nvPr/>
        </p:nvSpPr>
        <p:spPr>
          <a:xfrm>
            <a:off x="1377386" y="4644718"/>
            <a:ext cx="43630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Symbol" pitchFamily="2" charset="2"/>
              <a:buChar char="-"/>
            </a:pPr>
            <a:r>
              <a:rPr lang="de-DE" sz="2000"/>
              <a:t>Mehrere Anforderungen zusammengefasst</a:t>
            </a:r>
          </a:p>
        </p:txBody>
      </p:sp>
      <p:pic>
        <p:nvPicPr>
          <p:cNvPr id="39" name="Grafik 38" descr="Abzeichen Tick1 mit einfarbiger Füllung">
            <a:extLst>
              <a:ext uri="{FF2B5EF4-FFF2-40B4-BE49-F238E27FC236}">
                <a16:creationId xmlns:a16="http://schemas.microsoft.com/office/drawing/2014/main" id="{C26BAE2F-29C6-F179-292C-C0668A6AA0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0" y="2783091"/>
            <a:ext cx="914400" cy="914400"/>
          </a:xfrm>
          <a:prstGeom prst="rect">
            <a:avLst/>
          </a:prstGeom>
        </p:spPr>
      </p:pic>
      <p:pic>
        <p:nvPicPr>
          <p:cNvPr id="40" name="Grafik 39" descr="Markee nicht mehr folgen mit einfarbiger Füllung">
            <a:extLst>
              <a:ext uri="{FF2B5EF4-FFF2-40B4-BE49-F238E27FC236}">
                <a16:creationId xmlns:a16="http://schemas.microsoft.com/office/drawing/2014/main" id="{D8FC576B-92EF-682C-B676-9792E6200E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0" y="438757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183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B07E5-E4EA-218C-BCD4-2C79DA7E6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bgerundetes Rechteck 2">
            <a:extLst>
              <a:ext uri="{FF2B5EF4-FFF2-40B4-BE49-F238E27FC236}">
                <a16:creationId xmlns:a16="http://schemas.microsoft.com/office/drawing/2014/main" id="{C81C4204-CC12-4BAF-40F3-DB76C9D8210A}"/>
              </a:ext>
            </a:extLst>
          </p:cNvPr>
          <p:cNvSpPr/>
          <p:nvPr/>
        </p:nvSpPr>
        <p:spPr>
          <a:xfrm>
            <a:off x="490654" y="1963752"/>
            <a:ext cx="2587083" cy="701389"/>
          </a:xfrm>
          <a:prstGeom prst="roundRect">
            <a:avLst/>
          </a:prstGeom>
          <a:solidFill>
            <a:schemeClr val="accent2">
              <a:alpha val="6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Abgerundetes Rechteck 18">
            <a:extLst>
              <a:ext uri="{FF2B5EF4-FFF2-40B4-BE49-F238E27FC236}">
                <a16:creationId xmlns:a16="http://schemas.microsoft.com/office/drawing/2014/main" id="{6DF98343-8B69-4155-EF0D-E5F7B734986A}"/>
              </a:ext>
            </a:extLst>
          </p:cNvPr>
          <p:cNvSpPr/>
          <p:nvPr/>
        </p:nvSpPr>
        <p:spPr>
          <a:xfrm>
            <a:off x="6096000" y="1969711"/>
            <a:ext cx="2587083" cy="701389"/>
          </a:xfrm>
          <a:prstGeom prst="roundRect">
            <a:avLst/>
          </a:prstGeom>
          <a:solidFill>
            <a:schemeClr val="accent2">
              <a:alpha val="6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904BB00-677C-0C1B-C42B-FF5AF7023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38189"/>
            <a:ext cx="10934700" cy="701389"/>
          </a:xfrm>
        </p:spPr>
        <p:txBody>
          <a:bodyPr/>
          <a:lstStyle/>
          <a:p>
            <a:r>
              <a:rPr lang="de-DE" dirty="0"/>
              <a:t>Ergebnisse &amp; Vergleich der Ansätze</a:t>
            </a:r>
            <a:br>
              <a:rPr lang="de-DE" dirty="0"/>
            </a:br>
            <a:r>
              <a:rPr lang="de-DE" b="0" dirty="0"/>
              <a:t>Validierungsmethoden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A13F121E-10F9-3B5E-7C4A-FAAE059F23D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5000" y="2159000"/>
            <a:ext cx="5105400" cy="400110"/>
          </a:xfrm>
        </p:spPr>
        <p:txBody>
          <a:bodyPr/>
          <a:lstStyle/>
          <a:p>
            <a:r>
              <a:rPr lang="de-DE"/>
              <a:t>Doppelstufiges LLM: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9176AAE1-4894-B17D-B46D-B07757C5203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64300" y="2159000"/>
            <a:ext cx="5105400" cy="400110"/>
          </a:xfrm>
        </p:spPr>
        <p:txBody>
          <a:bodyPr/>
          <a:lstStyle/>
          <a:p>
            <a:r>
              <a:rPr lang="de-DE"/>
              <a:t>Eigenes RAG: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CED88CD-8EF6-1224-3619-F431227C7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C4DC1-7D02-4994-BD54-74988B047B41}" type="slidenum">
              <a:rPr lang="de-DE" sz="1600" b="1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20</a:t>
            </a:fld>
            <a:endParaRPr lang="de-DE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9D46AD8-344E-1DBE-C3B5-809BC52866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l"/>
            <a:r>
              <a:rPr lang="de-DE"/>
              <a:t>| PFLICHTENHEFTANALYSE | GRUPPE 2</a:t>
            </a:r>
          </a:p>
        </p:txBody>
      </p:sp>
      <p:pic>
        <p:nvPicPr>
          <p:cNvPr id="6" name="Grafik 5" descr="Abzeichen Tick1 mit einfarbiger Füllung">
            <a:extLst>
              <a:ext uri="{FF2B5EF4-FFF2-40B4-BE49-F238E27FC236}">
                <a16:creationId xmlns:a16="http://schemas.microsoft.com/office/drawing/2014/main" id="{93A9AB81-9868-E639-02B6-90AE9B57F3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1822" y="2783091"/>
            <a:ext cx="914400" cy="914400"/>
          </a:xfrm>
          <a:prstGeom prst="rect">
            <a:avLst/>
          </a:prstGeom>
        </p:spPr>
      </p:pic>
      <p:pic>
        <p:nvPicPr>
          <p:cNvPr id="7" name="Grafik 6" descr="Markee nicht mehr folgen mit einfarbiger Füllung">
            <a:extLst>
              <a:ext uri="{FF2B5EF4-FFF2-40B4-BE49-F238E27FC236}">
                <a16:creationId xmlns:a16="http://schemas.microsoft.com/office/drawing/2014/main" id="{C2695DC9-DE37-7DDC-5F48-26E35DD3FB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1822" y="4387573"/>
            <a:ext cx="914400" cy="914400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A7727702-7A3B-E2AA-FA7E-325388CBE1D9}"/>
              </a:ext>
            </a:extLst>
          </p:cNvPr>
          <p:cNvSpPr txBox="1"/>
          <p:nvPr/>
        </p:nvSpPr>
        <p:spPr>
          <a:xfrm>
            <a:off x="1377386" y="3041570"/>
            <a:ext cx="436301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Symbol" pitchFamily="2" charset="2"/>
              <a:buChar char="-"/>
            </a:pPr>
            <a:r>
              <a:rPr lang="de-DE" sz="2000"/>
              <a:t>Weitgehende Übereinstimmung</a:t>
            </a:r>
          </a:p>
          <a:p>
            <a:pPr marL="342900" indent="-342900">
              <a:buFont typeface="Symbol" pitchFamily="2" charset="2"/>
              <a:buChar char="-"/>
            </a:pPr>
            <a:r>
              <a:rPr lang="de-DE" sz="2000"/>
              <a:t>Inhaltlich korrekt</a:t>
            </a:r>
          </a:p>
          <a:p>
            <a:pPr marL="342900" indent="-342900">
              <a:buFont typeface="Symbol" pitchFamily="2" charset="2"/>
              <a:buChar char="-"/>
            </a:pPr>
            <a:r>
              <a:rPr lang="de-DE" sz="2000"/>
              <a:t>Keine Halluzinationen</a:t>
            </a:r>
          </a:p>
        </p:txBody>
      </p:sp>
      <p:pic>
        <p:nvPicPr>
          <p:cNvPr id="14" name="Grafik 13" descr="Abzeichen Tick1 mit einfarbiger Füllung">
            <a:extLst>
              <a:ext uri="{FF2B5EF4-FFF2-40B4-BE49-F238E27FC236}">
                <a16:creationId xmlns:a16="http://schemas.microsoft.com/office/drawing/2014/main" id="{BDECA93F-2F1C-3CBE-8E2E-5426DB0CCA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0" y="2783091"/>
            <a:ext cx="914400" cy="914400"/>
          </a:xfrm>
          <a:prstGeom prst="rect">
            <a:avLst/>
          </a:prstGeom>
        </p:spPr>
      </p:pic>
      <p:pic>
        <p:nvPicPr>
          <p:cNvPr id="15" name="Grafik 14" descr="Markee nicht mehr folgen mit einfarbiger Füllung">
            <a:extLst>
              <a:ext uri="{FF2B5EF4-FFF2-40B4-BE49-F238E27FC236}">
                <a16:creationId xmlns:a16="http://schemas.microsoft.com/office/drawing/2014/main" id="{9D7587DC-A8E4-C09F-3275-9CEBEFAFA9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0" y="4387573"/>
            <a:ext cx="914400" cy="914400"/>
          </a:xfrm>
          <a:prstGeom prst="rect">
            <a:avLst/>
          </a:prstGeom>
        </p:spPr>
      </p:pic>
      <p:sp>
        <p:nvSpPr>
          <p:cNvPr id="16" name="Textfeld 15">
            <a:extLst>
              <a:ext uri="{FF2B5EF4-FFF2-40B4-BE49-F238E27FC236}">
                <a16:creationId xmlns:a16="http://schemas.microsoft.com/office/drawing/2014/main" id="{3F5B1037-50FE-E542-219A-040810395AD6}"/>
              </a:ext>
            </a:extLst>
          </p:cNvPr>
          <p:cNvSpPr txBox="1"/>
          <p:nvPr/>
        </p:nvSpPr>
        <p:spPr>
          <a:xfrm>
            <a:off x="7141564" y="3041570"/>
            <a:ext cx="436301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Symbol" pitchFamily="2" charset="2"/>
              <a:buChar char="-"/>
            </a:pPr>
            <a:r>
              <a:rPr lang="de-DE" sz="2000"/>
              <a:t>Weitgehende Übereinstimmung</a:t>
            </a:r>
          </a:p>
          <a:p>
            <a:pPr marL="342900" indent="-342900">
              <a:buFont typeface="Symbol" pitchFamily="2" charset="2"/>
              <a:buChar char="-"/>
            </a:pPr>
            <a:r>
              <a:rPr lang="de-DE" sz="2000"/>
              <a:t>Inhaltlich korrekt</a:t>
            </a:r>
          </a:p>
          <a:p>
            <a:pPr marL="342900" indent="-342900">
              <a:buFont typeface="Symbol" pitchFamily="2" charset="2"/>
              <a:buChar char="-"/>
            </a:pPr>
            <a:r>
              <a:rPr lang="de-DE" sz="2000"/>
              <a:t>Keine Halluzinationen</a:t>
            </a:r>
          </a:p>
        </p:txBody>
      </p:sp>
    </p:spTree>
    <p:extLst>
      <p:ext uri="{BB962C8B-B14F-4D97-AF65-F5344CB8AC3E}">
        <p14:creationId xmlns:p14="http://schemas.microsoft.com/office/powerpoint/2010/main" val="283321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12C1F8-9D7B-4A2E-CD08-64583D71C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38190"/>
            <a:ext cx="10934700" cy="365126"/>
          </a:xfrm>
        </p:spPr>
        <p:txBody>
          <a:bodyPr/>
          <a:lstStyle/>
          <a:p>
            <a:r>
              <a:rPr lang="de-DE"/>
              <a:t>Limitationen &amp; Ausblick</a:t>
            </a:r>
            <a:br>
              <a:rPr lang="de-DE"/>
            </a:br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FCBEA99-DDBB-C7EE-20B0-65174F453B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de-DE" b="1" dirty="0"/>
              <a:t>Limitationen der Ausarbeitung</a:t>
            </a:r>
          </a:p>
          <a:p>
            <a:pPr marL="342900" indent="-342900">
              <a:buFont typeface="Symbol" pitchFamily="2" charset="2"/>
              <a:buChar char="-"/>
            </a:pPr>
            <a:r>
              <a:rPr lang="de-DE" dirty="0"/>
              <a:t>Verbesserungspotenzial in der Ausführung</a:t>
            </a:r>
          </a:p>
          <a:p>
            <a:pPr marL="342900" indent="-342900">
              <a:buFont typeface="Symbol" pitchFamily="2" charset="2"/>
              <a:buChar char="-"/>
            </a:pPr>
            <a:r>
              <a:rPr lang="de-DE" dirty="0"/>
              <a:t>Reduzierte Komplexität</a:t>
            </a:r>
            <a:r>
              <a:rPr lang="de-DE"/>
              <a:t>, bspw. bei dem Fragenkatalog für den RAG-Ansatz</a:t>
            </a:r>
            <a:endParaRPr lang="de-DE" dirty="0"/>
          </a:p>
          <a:p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97877441-4100-AC29-F1D0-3B67BC6D3A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b="1" dirty="0"/>
              <a:t>Ausblick für weitere Forschungen</a:t>
            </a:r>
          </a:p>
          <a:p>
            <a:pPr marL="342900" indent="-342900">
              <a:buFont typeface="Symbol" pitchFamily="2" charset="2"/>
              <a:buChar char="-"/>
            </a:pPr>
            <a:r>
              <a:rPr lang="de-DE" dirty="0"/>
              <a:t>Detaillierteres Fragenschema für verbesserte RAG-Ergebnisse</a:t>
            </a:r>
          </a:p>
          <a:p>
            <a:pPr marL="342900" indent="-342900">
              <a:buFont typeface="Symbol" pitchFamily="2" charset="2"/>
              <a:buChar char="-"/>
            </a:pPr>
            <a:r>
              <a:rPr lang="de-DE" dirty="0"/>
              <a:t>Flexibleres Prompt-Engineering für verbesserten Output</a:t>
            </a:r>
          </a:p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65F66A2-DF19-65BB-F80D-C15AC029A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C4DC1-7D02-4994-BD54-74988B047B41}" type="slidenum">
              <a:rPr lang="de-DE" sz="1600" b="1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21</a:t>
            </a:fld>
            <a:endParaRPr lang="de-DE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5958302-9FA2-64FC-CF45-93377DCE97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l"/>
            <a:r>
              <a:rPr lang="de-DE"/>
              <a:t>| PFLICHTENHEFTANALYSE | GRUPPE 2</a:t>
            </a:r>
          </a:p>
        </p:txBody>
      </p:sp>
    </p:spTree>
    <p:extLst>
      <p:ext uri="{BB962C8B-B14F-4D97-AF65-F5344CB8AC3E}">
        <p14:creationId xmlns:p14="http://schemas.microsoft.com/office/powerpoint/2010/main" val="17043610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eck 14"/>
          <p:cNvSpPr/>
          <p:nvPr/>
        </p:nvSpPr>
        <p:spPr>
          <a:xfrm>
            <a:off x="0" y="0"/>
            <a:ext cx="12217400" cy="6863981"/>
          </a:xfrm>
          <a:prstGeom prst="rect">
            <a:avLst/>
          </a:prstGeom>
          <a:solidFill>
            <a:srgbClr val="7B0E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Textfeld 11"/>
          <p:cNvSpPr txBox="1"/>
          <p:nvPr/>
        </p:nvSpPr>
        <p:spPr>
          <a:xfrm>
            <a:off x="550024" y="511959"/>
            <a:ext cx="6172894" cy="20553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900"/>
              </a:lnSpc>
            </a:pPr>
            <a:r>
              <a:rPr lang="de-DE" sz="3000" b="1" cap="all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Vielen Dank für ihre Aufmerksamkeit</a:t>
            </a:r>
            <a:r>
              <a:rPr lang="de-DE" sz="3000" b="1" cap="all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de-DE" sz="3000" b="1" cap="all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lnSpc>
                <a:spcPts val="3900"/>
              </a:lnSpc>
            </a:pPr>
            <a:endParaRPr lang="de-DE" sz="3000" b="1" cap="all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3900"/>
              </a:lnSpc>
            </a:pPr>
            <a:r>
              <a:rPr lang="de-DE" sz="3000" b="1" cap="all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Haben sie noch </a:t>
            </a:r>
            <a:r>
              <a:rPr lang="de-DE" sz="3000" b="1" cap="all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Fragen? </a:t>
            </a:r>
          </a:p>
        </p:txBody>
      </p:sp>
      <p:pic>
        <p:nvPicPr>
          <p:cNvPr id="14" name="Grafik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3241" y="6315074"/>
            <a:ext cx="216000" cy="247355"/>
          </a:xfrm>
          <a:prstGeom prst="rect">
            <a:avLst/>
          </a:prstGeom>
        </p:spPr>
      </p:pic>
      <p:pic>
        <p:nvPicPr>
          <p:cNvPr id="4" name="Grafik 3" descr="Fragezeichen mit einfarbiger Füllung">
            <a:extLst>
              <a:ext uri="{FF2B5EF4-FFF2-40B4-BE49-F238E27FC236}">
                <a16:creationId xmlns:a16="http://schemas.microsoft.com/office/drawing/2014/main" id="{D0B9E06D-8D91-BE93-A287-FA889425D7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06401" y="-1127760"/>
            <a:ext cx="8869680" cy="8869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9566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euphana2020">
      <a:dk1>
        <a:sysClr val="windowText" lastClr="000000"/>
      </a:dk1>
      <a:lt1>
        <a:sysClr val="window" lastClr="FFFFFF"/>
      </a:lt1>
      <a:dk2>
        <a:srgbClr val="80867B"/>
      </a:dk2>
      <a:lt2>
        <a:srgbClr val="C9D2D5"/>
      </a:lt2>
      <a:accent1>
        <a:srgbClr val="927B2D"/>
      </a:accent1>
      <a:accent2>
        <a:srgbClr val="8D8E3D"/>
      </a:accent2>
      <a:accent3>
        <a:srgbClr val="66787C"/>
      </a:accent3>
      <a:accent4>
        <a:srgbClr val="80867B"/>
      </a:accent4>
      <a:accent5>
        <a:srgbClr val="691633"/>
      </a:accent5>
      <a:accent6>
        <a:srgbClr val="C9D2D5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_Ethik_Bildverarbeitung_mit_KI" id="{2D3C9CBC-AB6A-0E47-822E-0E4AC39AA566}" vid="{1CE6AC3A-0A92-A341-9AEB-69C5B1C1DB8F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1157</Words>
  <Application>Microsoft Office PowerPoint</Application>
  <PresentationFormat>Widescreen</PresentationFormat>
  <Paragraphs>285</Paragraphs>
  <Slides>22</Slides>
  <Notes>21</Notes>
  <HiddenSlides>3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Symbol</vt:lpstr>
      <vt:lpstr>Arial Narrow</vt:lpstr>
      <vt:lpstr>Wingdings</vt:lpstr>
      <vt:lpstr>Calibri</vt:lpstr>
      <vt:lpstr>Office</vt:lpstr>
      <vt:lpstr>PowerPoint Presentation</vt:lpstr>
      <vt:lpstr>Team</vt:lpstr>
      <vt:lpstr>AGENDA</vt:lpstr>
      <vt:lpstr>Aufgabenstellung</vt:lpstr>
      <vt:lpstr>Zielsetzung</vt:lpstr>
      <vt:lpstr>Voreinstellungen</vt:lpstr>
      <vt:lpstr>Schematische Übersicht der Ansätze</vt:lpstr>
      <vt:lpstr>Ansatz 1: Doppelstufiges llm Methodik</vt:lpstr>
      <vt:lpstr>Ergänzender  Flow Chart   Ansatz 1:  Doppelstufiges llm Methodik</vt:lpstr>
      <vt:lpstr>Ansatz 2: eigenes RAG-System Methodik</vt:lpstr>
      <vt:lpstr>Ergänzender  Flow Chart  Ansatz 2:  eigenes RAG-System Methodik</vt:lpstr>
      <vt:lpstr>Ergänzender Fragenkatalog  Ansatz 2:  eigenes RAG-System Methodik</vt:lpstr>
      <vt:lpstr>Methodik der Ansätze und Bewertung</vt:lpstr>
      <vt:lpstr>Ergebnisse &amp; Vergleich der Ansätze Rückverfolgbarkeit</vt:lpstr>
      <vt:lpstr>Ergebnisse &amp; Vergleich der Ansätze Vollständigkeit</vt:lpstr>
      <vt:lpstr>Ergebnisse &amp; Vergleich der Ansätze Vollständigkeit</vt:lpstr>
      <vt:lpstr>Ergebnisse &amp; Vergleich der Ansätze Eindeutigkeit </vt:lpstr>
      <vt:lpstr>Ergebnisse &amp; Vergleich der Ansätze Redundanzfreiheit</vt:lpstr>
      <vt:lpstr>Ergebnisse &amp; Vergleich der Ansätze Atomarität</vt:lpstr>
      <vt:lpstr>Ergebnisse &amp; Vergleich der Ansätze Validierungsmethoden</vt:lpstr>
      <vt:lpstr>Limitationen &amp; Ausblick </vt:lpstr>
      <vt:lpstr>PowerPoint Presentation</vt:lpstr>
    </vt:vector>
  </TitlesOfParts>
  <Manager>Jens Stein</Manager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Mika Wettstaedt</dc:creator>
  <cp:lastModifiedBy>Jan Ole Trosin</cp:lastModifiedBy>
  <cp:revision>2</cp:revision>
  <dcterms:created xsi:type="dcterms:W3CDTF">2025-10-11T09:53:43Z</dcterms:created>
  <dcterms:modified xsi:type="dcterms:W3CDTF">2026-04-12T19:54:08Z</dcterms:modified>
</cp:coreProperties>
</file>