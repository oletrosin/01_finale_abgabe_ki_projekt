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71" r:id="rId2"/>
    <p:sldId id="282" r:id="rId3"/>
    <p:sldId id="283" r:id="rId4"/>
    <p:sldId id="292" r:id="rId5"/>
    <p:sldId id="284" r:id="rId6"/>
    <p:sldId id="291" r:id="rId7"/>
    <p:sldId id="290" r:id="rId8"/>
    <p:sldId id="285" r:id="rId9"/>
    <p:sldId id="302" r:id="rId10"/>
    <p:sldId id="287" r:id="rId11"/>
    <p:sldId id="303" r:id="rId12"/>
    <p:sldId id="304" r:id="rId13"/>
    <p:sldId id="295" r:id="rId14"/>
    <p:sldId id="297" r:id="rId15"/>
    <p:sldId id="289" r:id="rId16"/>
    <p:sldId id="293" r:id="rId17"/>
    <p:sldId id="294" r:id="rId18"/>
    <p:sldId id="301" r:id="rId19"/>
    <p:sldId id="306" r:id="rId20"/>
    <p:sldId id="296" r:id="rId21"/>
    <p:sldId id="299" r:id="rId22"/>
    <p:sldId id="263" r:id="rId23"/>
  </p:sldIdLst>
  <p:sldSz cx="12192000" cy="6858000"/>
  <p:notesSz cx="6858000" cy="9144000"/>
  <p:embeddedFontLst>
    <p:embeddedFont>
      <p:font typeface="Arial Narrow" panose="020B0606020202030204" pitchFamily="34" charset="0"/>
      <p:regular r:id="rId25"/>
      <p:bold r:id="rId26"/>
      <p:italic r:id="rId27"/>
      <p:boldItalic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1D29D"/>
    <a:srgbClr val="8D8E3D"/>
    <a:srgbClr val="66787C"/>
    <a:srgbClr val="927B2D"/>
    <a:srgbClr val="80867B"/>
    <a:srgbClr val="D6D7D4"/>
    <a:srgbClr val="A8ACA5"/>
    <a:srgbClr val="C9D2D5"/>
    <a:srgbClr val="98A3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549A9-E542-469B-80F4-16A95B438295}" v="1378" dt="2026-04-12T16:14:09.660"/>
    <p1510:client id="{BA499724-9365-E97C-798A-2B800E2DA13B}" v="44" dt="2026-04-12T08:57:57.570"/>
    <p1510:client id="{BBE03395-8544-4C0C-850D-8E5B372E01A8}" v="1505" dt="2026-04-12T17:09:57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38" autoAdjust="0"/>
  </p:normalViewPr>
  <p:slideViewPr>
    <p:cSldViewPr snapToGrid="0">
      <p:cViewPr varScale="1">
        <p:scale>
          <a:sx n="68" d="100"/>
          <a:sy n="68" d="100"/>
        </p:scale>
        <p:origin x="123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D1491-ADAA-4FFD-A116-56D17BA8DBB8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FB31-0F00-42EA-B050-9BAE453EAE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37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68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737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745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092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Modelle: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qwen3-vl-30b-a3b-instruct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llama-3.1-sauerkrautlm-70b-instruct</a:t>
            </a:r>
            <a:r>
              <a:rPr lang="de-DE">
                <a:effectLst/>
              </a:rPr>
              <a:t> </a:t>
            </a: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llama-3.3-70b-instruct (</a:t>
            </a:r>
            <a:r>
              <a:rPr lang="de-DE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</a:t>
            </a:r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Modell)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Ole</a:t>
            </a:r>
            <a:endParaRPr lang="de-DE">
              <a:effectLst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379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975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1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ACA5-F5A6-CE03-691B-533664F5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16B32-C14E-529C-C235-04119788D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6DCA1-E495-6048-BC6F-3D617B294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B10C4-C319-CE84-F37E-70526839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650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637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5FFF-1B2E-B0EB-129F-B61208AB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158F1-11ED-E0A5-2CC6-036060006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B7F63-03A6-473D-F6B0-67516255C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52FBF-789F-5405-9935-2FB6F42D5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F24A-1099-D743-F4B5-2B76B2F0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89D09-5335-79D8-F04B-23D32CD22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96432-4990-CC24-3F6E-AE1F4E970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62315-255E-7F53-C2B3-ACC902C6E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676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Qualitativ weil: Von uns erstellte Anforderungsliste auch „nur“ von uns erstellt UND Vorwegnahme: Viele erkannte Fehler/Ungenauigkeiten scheinen auf unsere Umsetzun zurückzuführen zu sein, daher egal ob 25/100 Anforderungen oder 60/100 Anforderungen, viel wichtiger ist das eigentliche Identifizieren von strukturellen Schwächen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Intersubjektive Validierung bedeutet, dass mehrere Leute etwas erstellen und das am Ende abgleichen, daraus wird dann eine Masterversion erstellt.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Luca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261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84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Luca</a:t>
            </a:r>
          </a:p>
          <a:p>
            <a:r>
              <a:rPr lang="de-DE" dirty="0"/>
              <a:t>Compartment 1 und 2/3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844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572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878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511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4710-9A18-C310-5691-00F2EC6D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87F84-ADCD-DED2-02E1-391E2578F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19569-21AB-3B88-E24E-1A67EAD05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5479B-74FA-6D1F-951F-06B55C3D1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591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6657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Luca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DFB31-0F00-42EA-B050-9BAE453EAE95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46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9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ur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0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371200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20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9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109220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12523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347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1" name="Textplatzhalter 15"/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202922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8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6946661" y="4920785"/>
            <a:ext cx="4617953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2000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10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8999"/>
            <a:ext cx="5105400" cy="3383845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6"/>
          </p:nvPr>
        </p:nvSpPr>
        <p:spPr>
          <a:xfrm>
            <a:off x="6946661" y="2205883"/>
            <a:ext cx="4617953" cy="257121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33784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6950075" y="2209800"/>
            <a:ext cx="2743200" cy="15240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3327400"/>
          </a:xfr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9" name="Bildplatzhalter 6"/>
          <p:cNvSpPr>
            <a:spLocks noGrp="1"/>
          </p:cNvSpPr>
          <p:nvPr>
            <p:ph type="pic" sz="quarter" idx="13"/>
          </p:nvPr>
        </p:nvSpPr>
        <p:spPr>
          <a:xfrm>
            <a:off x="6950075" y="3857625"/>
            <a:ext cx="2743200" cy="15240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9788525" y="2209800"/>
            <a:ext cx="1768475" cy="1524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788524" y="3857625"/>
            <a:ext cx="1768475" cy="1524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42204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3" name="Inhaltsplatzhalter 12"/>
          <p:cNvSpPr>
            <a:spLocks noGrp="1"/>
          </p:cNvSpPr>
          <p:nvPr>
            <p:ph sz="quarter" idx="13" hasCustomPrompt="1"/>
          </p:nvPr>
        </p:nvSpPr>
        <p:spPr>
          <a:xfrm>
            <a:off x="635000" y="2159419"/>
            <a:ext cx="5378940" cy="2982841"/>
          </a:xfrm>
        </p:spPr>
        <p:txBody>
          <a:bodyPr lIns="0" tIns="0" rIns="0" bIns="0"/>
          <a:lstStyle>
            <a:lvl1pPr marL="0" indent="0"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14" name="Inhaltsplatzhalter 12"/>
          <p:cNvSpPr>
            <a:spLocks noGrp="1"/>
          </p:cNvSpPr>
          <p:nvPr>
            <p:ph sz="quarter" idx="14" hasCustomPrompt="1"/>
          </p:nvPr>
        </p:nvSpPr>
        <p:spPr>
          <a:xfrm>
            <a:off x="6178059" y="2159419"/>
            <a:ext cx="5378940" cy="2982841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35000" y="5236980"/>
            <a:ext cx="5378940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8059" y="5236980"/>
            <a:ext cx="5378940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98242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464" y="6297994"/>
            <a:ext cx="230400" cy="248470"/>
          </a:xfrm>
          <a:prstGeom prst="rect">
            <a:avLst/>
          </a:prstGeom>
        </p:spPr>
      </p:pic>
      <p:sp>
        <p:nvSpPr>
          <p:cNvPr id="18" name="Inhaltsplatzhalter 12"/>
          <p:cNvSpPr>
            <a:spLocks noGrp="1"/>
          </p:cNvSpPr>
          <p:nvPr>
            <p:ph sz="quarter" idx="16" hasCustomPrompt="1"/>
          </p:nvPr>
        </p:nvSpPr>
        <p:spPr>
          <a:xfrm>
            <a:off x="639153" y="2159418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aseline="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19" name="Inhaltsplatzhalter 12"/>
          <p:cNvSpPr>
            <a:spLocks noGrp="1"/>
          </p:cNvSpPr>
          <p:nvPr>
            <p:ph sz="quarter" idx="17" hasCustomPrompt="1"/>
          </p:nvPr>
        </p:nvSpPr>
        <p:spPr>
          <a:xfrm>
            <a:off x="4330818" y="2158354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20" name="Inhaltsplatzhalter 12"/>
          <p:cNvSpPr>
            <a:spLocks noGrp="1"/>
          </p:cNvSpPr>
          <p:nvPr>
            <p:ph sz="quarter" idx="18" hasCustomPrompt="1"/>
          </p:nvPr>
        </p:nvSpPr>
        <p:spPr>
          <a:xfrm>
            <a:off x="8022483" y="2158354"/>
            <a:ext cx="3532971" cy="1963213"/>
          </a:xfr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DE"/>
              <a:t>Klicken Sie zum Einfügen eines Bildes oder einer Grafik bitte auf ein Symbol</a:t>
            </a:r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638189"/>
            <a:ext cx="10921999" cy="1325563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3000"/>
              </a:lnSpc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35000" y="4305487"/>
            <a:ext cx="3537124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330817" y="4305487"/>
            <a:ext cx="3532971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22483" y="4305487"/>
            <a:ext cx="3532972" cy="6220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i="0" u="none">
                <a:solidFill>
                  <a:srgbClr val="949B8F"/>
                </a:solidFill>
              </a:defRPr>
            </a:lvl1pPr>
            <a:lvl2pPr marL="457200" indent="0">
              <a:buNone/>
              <a:defRPr sz="1600" i="0" u="none"/>
            </a:lvl2pPr>
            <a:lvl3pPr marL="914400" indent="0">
              <a:buNone/>
              <a:defRPr sz="1600" i="0" u="none"/>
            </a:lvl3pPr>
            <a:lvl4pPr marL="1371600" indent="0">
              <a:buNone/>
              <a:defRPr sz="1600" i="0" u="none"/>
            </a:lvl4pPr>
            <a:lvl5pPr marL="1828800" indent="0">
              <a:buNone/>
              <a:defRPr sz="1600" i="0" u="none"/>
            </a:lvl5pPr>
          </a:lstStyle>
          <a:p>
            <a:pPr lvl="0"/>
            <a:r>
              <a:rPr lang="de-DE" sz="1600">
                <a:solidFill>
                  <a:srgbClr val="949B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Bildunterschrift</a:t>
            </a:r>
            <a:endParaRPr lang="de-DE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266853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376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| PFLICHTENHEFTANALYSE | GRUPPE 2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6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7C4DC1-7D02-4994-BD54-74988B047B4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-1" y="-1"/>
            <a:ext cx="12192001" cy="685800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02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54" r:id="rId3"/>
    <p:sldLayoutId id="2147483662" r:id="rId4"/>
    <p:sldLayoutId id="2147483656" r:id="rId5"/>
    <p:sldLayoutId id="2147483661" r:id="rId6"/>
    <p:sldLayoutId id="2147483658" r:id="rId7"/>
    <p:sldLayoutId id="2147483659" r:id="rId8"/>
    <p:sldLayoutId id="2147483657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812800" indent="-355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159000" indent="-3302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Symbol" panose="05050102010706020507" pitchFamily="18" charset="2"/>
        <a:buChar char="¾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2483"/>
            <a:ext cx="12192000" cy="4680961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545177" y="2389194"/>
            <a:ext cx="6631800" cy="61209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9308752" y="2083790"/>
            <a:ext cx="2257200" cy="100800"/>
          </a:xfrm>
          <a:prstGeom prst="rect">
            <a:avLst/>
          </a:prstGeom>
          <a:solidFill>
            <a:srgbClr val="7B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/>
          <p:cNvSpPr txBox="1"/>
          <p:nvPr/>
        </p:nvSpPr>
        <p:spPr>
          <a:xfrm>
            <a:off x="550025" y="613559"/>
            <a:ext cx="11409405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900"/>
              </a:lnSpc>
            </a:pPr>
            <a:r>
              <a:rPr lang="de-DE" sz="4000" b="1" cap="all">
                <a:latin typeface="Arial" panose="020B0604020202020204" pitchFamily="34" charset="0"/>
                <a:cs typeface="Arial" panose="020B0604020202020204" pitchFamily="34" charset="0"/>
              </a:rPr>
              <a:t>Automatisierte Pflichtenheftanalyse</a:t>
            </a:r>
          </a:p>
          <a:p>
            <a:pPr>
              <a:lnSpc>
                <a:spcPts val="3900"/>
              </a:lnSpc>
            </a:pPr>
            <a:r>
              <a:rPr lang="de-DE" sz="4000" cap="all">
                <a:latin typeface="Arial" panose="020B0604020202020204" pitchFamily="34" charset="0"/>
                <a:cs typeface="Arial" panose="020B0604020202020204" pitchFamily="34" charset="0"/>
              </a:rPr>
              <a:t>Vergleich von RAG &amp; </a:t>
            </a:r>
            <a:r>
              <a:rPr lang="de-DE" sz="4000" cap="all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lang="de-DE" sz="4000" cap="al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9308752" y="5440908"/>
            <a:ext cx="2257200" cy="1429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47083" y="6081924"/>
            <a:ext cx="6817278" cy="36512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352" y="5860933"/>
            <a:ext cx="1692000" cy="58928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45177" y="2395997"/>
            <a:ext cx="6706228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de-DE" sz="1500" b="1" dirty="0">
                <a:latin typeface="Arial" panose="020B0604020202020204" pitchFamily="34" charset="0"/>
                <a:cs typeface="Arial" panose="020B0604020202020204" pitchFamily="34" charset="0"/>
              </a:rPr>
              <a:t>Automatisierte Anforderungsextraktion aus Pflichtenheften:</a:t>
            </a:r>
          </a:p>
          <a:p>
            <a:pPr>
              <a:lnSpc>
                <a:spcPts val="2000"/>
              </a:lnSpc>
            </a:pPr>
            <a:r>
              <a:rPr lang="de-DE" sz="1500" dirty="0">
                <a:latin typeface="Arial" panose="020B0604020202020204" pitchFamily="34" charset="0"/>
                <a:cs typeface="Arial" panose="020B0604020202020204" pitchFamily="34" charset="0"/>
              </a:rPr>
              <a:t>Ein Vergleich zwischen einer RAG-basierten und zweistufigen LLM-Methode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24769" y="6125986"/>
            <a:ext cx="7052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Pia Voigtländer, Irina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Kireeva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Raphael Wohlers , Luca Russek, Jan Ole Trosin, Mika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Wettstaedt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39" y="6183526"/>
            <a:ext cx="144000" cy="1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3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Team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BBBAB0D-D207-2F98-487A-811B196F1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20572"/>
              </p:ext>
            </p:extLst>
          </p:nvPr>
        </p:nvGraphicFramePr>
        <p:xfrm>
          <a:off x="42529" y="2391380"/>
          <a:ext cx="12106941" cy="2075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29563">
                  <a:extLst>
                    <a:ext uri="{9D8B030D-6E8A-4147-A177-3AD203B41FA5}">
                      <a16:colId xmlns:a16="http://schemas.microsoft.com/office/drawing/2014/main" val="2022497030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183042459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224668836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108241591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1492959609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2828127347"/>
                    </a:ext>
                  </a:extLst>
                </a:gridCol>
                <a:gridCol w="1729563">
                  <a:extLst>
                    <a:ext uri="{9D8B030D-6E8A-4147-A177-3AD203B41FA5}">
                      <a16:colId xmlns:a16="http://schemas.microsoft.com/office/drawing/2014/main" val="33314840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Vorname</a:t>
                      </a:r>
                      <a:br>
                        <a:rPr lang="de-DE"/>
                      </a:br>
                      <a:r>
                        <a:rPr lang="de-DE"/>
                        <a:t>Nachname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Pia</a:t>
                      </a:r>
                      <a:br>
                        <a:rPr lang="de-DE"/>
                      </a:br>
                      <a:r>
                        <a:rPr lang="de-DE"/>
                        <a:t>Voigtländer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Irina</a:t>
                      </a:r>
                      <a:br>
                        <a:rPr lang="de-DE"/>
                      </a:br>
                      <a:r>
                        <a:rPr lang="de-DE" err="1"/>
                        <a:t>Kireeva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Raphael</a:t>
                      </a:r>
                      <a:br>
                        <a:rPr lang="de-DE"/>
                      </a:br>
                      <a:r>
                        <a:rPr lang="de-DE"/>
                        <a:t>Wohlers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Luca</a:t>
                      </a:r>
                      <a:br>
                        <a:rPr lang="de-DE"/>
                      </a:br>
                      <a:r>
                        <a:rPr lang="de-DE"/>
                        <a:t>Russek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Jan Ole</a:t>
                      </a:r>
                      <a:br>
                        <a:rPr lang="de-DE"/>
                      </a:br>
                      <a:r>
                        <a:rPr lang="de-DE" err="1"/>
                        <a:t>Trosin</a:t>
                      </a:r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Mika</a:t>
                      </a:r>
                      <a:br>
                        <a:rPr lang="de-DE"/>
                      </a:br>
                      <a:r>
                        <a:rPr lang="de-DE"/>
                        <a:t>Wettstaedt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6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Matrikel-nummer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3048228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4006090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4006102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3047261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691399"/>
                  </a:ext>
                </a:extLst>
              </a:tr>
              <a:tr h="795080">
                <a:tc>
                  <a:txBody>
                    <a:bodyPr/>
                    <a:lstStyle/>
                    <a:p>
                      <a:r>
                        <a:rPr lang="de-DE"/>
                        <a:t>Kontakt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err="1"/>
                        <a:t>Pia.Voigtlaender</a:t>
                      </a:r>
                      <a:br>
                        <a:rPr lang="de-DE" sz="1400"/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Irina.Kireeva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Raphael.Wohlers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Luca.Russek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Jan.O.Trosin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kern="1200" err="1">
                          <a:solidFill>
                            <a:schemeClr val="dk1"/>
                          </a:solidFill>
                        </a:rPr>
                        <a:t>Mika.Wettstaedt</a:t>
                      </a:r>
                      <a:br>
                        <a:rPr lang="de-DE" sz="1400" kern="1200">
                          <a:solidFill>
                            <a:schemeClr val="dk1"/>
                          </a:solidFill>
                        </a:rPr>
                      </a:br>
                      <a:r>
                        <a:rPr lang="de-DE" sz="1400"/>
                        <a:t>@</a:t>
                      </a:r>
                      <a:r>
                        <a:rPr lang="de-DE" sz="1400" err="1"/>
                        <a:t>stud.leuphana.de</a:t>
                      </a:r>
                      <a:endParaRPr lang="de-D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32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35000" y="2158999"/>
            <a:ext cx="10922000" cy="3829205"/>
          </a:xfrm>
        </p:spPr>
        <p:txBody>
          <a:bodyPr>
            <a:noAutofit/>
          </a:bodyPr>
          <a:lstStyle/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Aufgabenstellung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Zielsetzung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Voreinstellungen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Schematische Übersicht der Ansätze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Methodik der Ansätze und Bewertung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Ergebnisse &amp; Vergleich der Ansätze</a:t>
            </a:r>
          </a:p>
          <a:p>
            <a:pPr marL="342900" indent="-342900">
              <a:lnSpc>
                <a:spcPts val="2200"/>
              </a:lnSpc>
              <a:buSzPct val="70000"/>
              <a:buFont typeface="Symbol" pitchFamily="2" charset="2"/>
              <a:buChar char="-"/>
            </a:pPr>
            <a:r>
              <a:rPr lang="de-DE" dirty="0">
                <a:cs typeface="Arial" panose="020B0604020202020204" pitchFamily="34" charset="0"/>
              </a:rPr>
              <a:t>Einordnung der Ergebnisse &amp; Ausblick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35000" y="6247866"/>
            <a:ext cx="308044" cy="365125"/>
          </a:xfrm>
        </p:spPr>
        <p:txBody>
          <a:bodyPr lIns="0" r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3044" y="6247866"/>
            <a:ext cx="8821845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lang="de-DE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de-DE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93105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58AA0-210A-E37F-6C14-B9AD3B47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Aufgabenstellung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98C1B2-214B-F20C-3FF2-800738F04E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1765300"/>
            <a:ext cx="6247581" cy="3327400"/>
          </a:xfrm>
        </p:spPr>
        <p:txBody>
          <a:bodyPr>
            <a:normAutofit lnSpcReduction="10000"/>
          </a:bodyPr>
          <a:lstStyle/>
          <a:p>
            <a:pPr algn="just"/>
            <a:r>
              <a:rPr lang="de-DE" dirty="0"/>
              <a:t>Sie sind ein Systemintegrator für Lagerlogistik und haben für den Bau eines automatisierten </a:t>
            </a:r>
            <a:r>
              <a:rPr lang="de-DE" b="1" dirty="0"/>
              <a:t>Schmalganghochregallagers</a:t>
            </a:r>
            <a:r>
              <a:rPr lang="de-DE" dirty="0"/>
              <a:t> ein Angebot verfasst, welches angenommen wurde. Um dieses Angebot umzusetzen, benötigt ihre Produktentwicklung eine </a:t>
            </a:r>
            <a:r>
              <a:rPr lang="de-DE" b="1" dirty="0"/>
              <a:t>ISO-konforme Anforderungsliste</a:t>
            </a:r>
            <a:r>
              <a:rPr lang="de-DE" dirty="0"/>
              <a:t>. Erstellen Sie eine </a:t>
            </a:r>
            <a:r>
              <a:rPr lang="de-DE" b="1" dirty="0"/>
              <a:t>LLM-basierte Lösung</a:t>
            </a:r>
            <a:r>
              <a:rPr lang="de-DE" dirty="0"/>
              <a:t>, die aus dem Angebot eine solche Liste erstellt. Dabei soll jeder Anforderung eine der vier </a:t>
            </a:r>
            <a:r>
              <a:rPr lang="de-DE" b="1" dirty="0"/>
              <a:t>Standardmethoden zur Validierung </a:t>
            </a:r>
            <a:r>
              <a:rPr lang="de-DE" dirty="0"/>
              <a:t>(Inspektion, Analyse, Demonstration, Test) zugeordnet und ein konkreter </a:t>
            </a:r>
            <a:r>
              <a:rPr lang="de-DE" b="1" dirty="0"/>
              <a:t>Umsetzungsvorschlag</a:t>
            </a:r>
            <a:r>
              <a:rPr lang="de-DE" dirty="0"/>
              <a:t> gemacht werden.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4A41D1-9BED-EB23-1124-2FC9749E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D62923-932C-939A-8550-76C51EDD6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618D8-3371-E3A6-D2FF-190B3FAE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463" y="462114"/>
            <a:ext cx="3875943" cy="556997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293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8F9A8-1087-921F-1920-C6047761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180DA5-4587-1FD5-B787-C01D44FDB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7299632" cy="3327400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Automatische Generierung ISO konformer Anforderungen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Entwicklung eines Problemlösungsansatzes basierend auf einer doppelstufigen LLM sowie einer RAG basierten Methode 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>
                <a:latin typeface="Arial Narrow"/>
              </a:rPr>
              <a:t>Vergleich und Bewertung der Ergebnisse beider Ansätze anhand ausgewählter Kriterien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>
                <a:latin typeface="Arial Narrow"/>
              </a:rPr>
              <a:t>Evaluierung der lückenlose Rückverfolgbarkeit bei der Anforderungsgenerierung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3DBB37-7EEF-F3EC-DE25-86F619D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0DFBF6-E4C3-71C3-2AB3-3D31A24E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83CAB4-D3E5-45EB-EB99-3CF00B03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942" y="1963752"/>
            <a:ext cx="2898058" cy="289805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17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EEB4C-85DF-BA5E-521D-D5D6DB51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Voreinstellungen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A2D10A-68BF-B858-E34B-9602940F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C61B9-A1B4-DE9B-1190-A4AB16AFC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04D40B9A-3D77-82DA-B6A1-D0168D296406}"/>
              </a:ext>
            </a:extLst>
          </p:cNvPr>
          <p:cNvSpPr/>
          <p:nvPr/>
        </p:nvSpPr>
        <p:spPr>
          <a:xfrm>
            <a:off x="1874907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Multimodales PDF-</a:t>
            </a:r>
            <a:r>
              <a:rPr lang="de-DE" sz="1500" kern="1200" err="1"/>
              <a:t>Parsing</a:t>
            </a:r>
            <a:endParaRPr lang="de-DE" sz="1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B0805E96-9A1A-D842-C18A-2490774EDD41}"/>
              </a:ext>
            </a:extLst>
          </p:cNvPr>
          <p:cNvSpPr/>
          <p:nvPr/>
        </p:nvSpPr>
        <p:spPr>
          <a:xfrm>
            <a:off x="1095153" y="1741565"/>
            <a:ext cx="3189768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b="0" kern="1200" err="1"/>
              <a:t>PyMuPDF</a:t>
            </a:r>
            <a:r>
              <a:rPr lang="de-DE" sz="1400" b="0" kern="1200"/>
              <a:t>	(Texte)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b="0" kern="1200" err="1"/>
              <a:t>Pdfplumber</a:t>
            </a:r>
            <a:r>
              <a:rPr lang="de-DE" sz="1400" b="0" kern="1200"/>
              <a:t>	(Tabellen)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de-DE" sz="1400" b="0" kern="1200" err="1"/>
              <a:t>Qwen</a:t>
            </a:r>
            <a:r>
              <a:rPr lang="de-DE" sz="1400" b="0" kern="1200"/>
              <a:t> VL	(Skizzen)</a:t>
            </a:r>
            <a:r>
              <a:rPr lang="de-DE" sz="1400"/>
              <a:t> 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de-DE" sz="1400"/>
              <a:t>Labelgenerierung für die Chunks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1400" b="0" kern="120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14FA31E-AE73-754A-E247-CCA2D2964959}"/>
              </a:ext>
            </a:extLst>
          </p:cNvPr>
          <p:cNvSpPr/>
          <p:nvPr/>
        </p:nvSpPr>
        <p:spPr>
          <a:xfrm>
            <a:off x="5117816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Chunking</a:t>
            </a:r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6B9E1DF9-C451-4654-8455-F9457BCC16DD}"/>
              </a:ext>
            </a:extLst>
          </p:cNvPr>
          <p:cNvSpPr/>
          <p:nvPr/>
        </p:nvSpPr>
        <p:spPr>
          <a:xfrm>
            <a:off x="4370775" y="1741565"/>
            <a:ext cx="3189768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NLP-Bibliothek </a:t>
            </a:r>
            <a:r>
              <a:rPr lang="de-DE" sz="1400" kern="1200" err="1"/>
              <a:t>spaCy</a:t>
            </a:r>
            <a:endParaRPr lang="de-DE" sz="1400" kern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Chunks bestehen aus vollständigen Sätzen 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Limitation im Chunking durch Zeichengrenzen</a:t>
            </a:r>
            <a:endParaRPr lang="de-DE" sz="1400" kern="120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CEB7B434-E64D-9A72-A5D0-E718016F81EF}"/>
              </a:ext>
            </a:extLst>
          </p:cNvPr>
          <p:cNvSpPr/>
          <p:nvPr/>
        </p:nvSpPr>
        <p:spPr>
          <a:xfrm>
            <a:off x="8360725" y="1222099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Verwendete LLMs</a:t>
            </a:r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3AB55C7A-96EF-86D3-C7D4-956B24853B46}"/>
              </a:ext>
            </a:extLst>
          </p:cNvPr>
          <p:cNvSpPr/>
          <p:nvPr/>
        </p:nvSpPr>
        <p:spPr>
          <a:xfrm>
            <a:off x="7666824" y="1741565"/>
            <a:ext cx="3189767" cy="1984713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 err="1"/>
              <a:t>Qwen</a:t>
            </a:r>
            <a:r>
              <a:rPr lang="de-DE" sz="1400" kern="1200"/>
              <a:t> VL (visuelle Daten)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err="1"/>
              <a:t>Llama</a:t>
            </a:r>
            <a:r>
              <a:rPr lang="de-DE" sz="1400"/>
              <a:t> 70 B Sauerkraut (Textdaten)</a:t>
            </a:r>
          </a:p>
          <a:p>
            <a:pPr marL="571500" lvl="2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200"/>
              <a:t>Generator Modell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err="1"/>
              <a:t>Llama</a:t>
            </a:r>
            <a:r>
              <a:rPr lang="de-DE" sz="1400"/>
              <a:t> 70 B (Überprüfung)</a:t>
            </a:r>
          </a:p>
          <a:p>
            <a:pPr marL="571500" lvl="2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200" err="1">
                <a:sym typeface="Wingdings" pitchFamily="2" charset="2"/>
              </a:rPr>
              <a:t>Critic</a:t>
            </a:r>
            <a:r>
              <a:rPr lang="de-DE" sz="1200">
                <a:sym typeface="Wingdings" pitchFamily="2" charset="2"/>
              </a:rPr>
              <a:t> Modell</a:t>
            </a:r>
            <a:endParaRPr lang="de-DE" sz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Temperatur: 0,0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Top-P: 0,1</a:t>
            </a:r>
            <a:endParaRPr lang="de-DE" sz="1400" kern="1200"/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endParaRPr lang="de-DE" sz="1400" kern="120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10665A5A-3E26-BA43-FFCA-1E2225607E88}"/>
              </a:ext>
            </a:extLst>
          </p:cNvPr>
          <p:cNvSpPr/>
          <p:nvPr/>
        </p:nvSpPr>
        <p:spPr>
          <a:xfrm>
            <a:off x="1874907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INCOSE Regelwerk</a:t>
            </a: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88D62124-8D31-4116-8E49-922115B36E8D}"/>
              </a:ext>
            </a:extLst>
          </p:cNvPr>
          <p:cNvSpPr/>
          <p:nvPr/>
        </p:nvSpPr>
        <p:spPr>
          <a:xfrm>
            <a:off x="1095152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42 Regeln zur Überprüfung der ISO Konformität der generierten Anforderungen </a:t>
            </a:r>
          </a:p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Direkte Einbindung im Code durch die Zuweisung im Prompt des </a:t>
            </a:r>
            <a:r>
              <a:rPr lang="de-DE" sz="1400" err="1"/>
              <a:t>Critic</a:t>
            </a:r>
            <a:r>
              <a:rPr lang="de-DE" sz="1400"/>
              <a:t> Modells</a:t>
            </a:r>
            <a:endParaRPr lang="de-DE" sz="1400" kern="120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45D6BF7E-A791-6F7F-E6B0-ADF51C581312}"/>
              </a:ext>
            </a:extLst>
          </p:cNvPr>
          <p:cNvSpPr/>
          <p:nvPr/>
        </p:nvSpPr>
        <p:spPr>
          <a:xfrm>
            <a:off x="5117816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Nachweis-methoden</a:t>
            </a:r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6105D719-0E6C-2E80-9E22-B4E979DCFA89}"/>
              </a:ext>
            </a:extLst>
          </p:cNvPr>
          <p:cNvSpPr/>
          <p:nvPr/>
        </p:nvSpPr>
        <p:spPr>
          <a:xfrm>
            <a:off x="4370775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Definition der einzelnen Nachweise Inspektion, Demonstration, Test &amp; Analyse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Übergabe an </a:t>
            </a:r>
            <a:r>
              <a:rPr lang="de-DE" sz="1400" err="1"/>
              <a:t>Critic</a:t>
            </a:r>
            <a:r>
              <a:rPr lang="de-DE" sz="1400"/>
              <a:t> Modell über den entwickelten Prompt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36B4E1F4-E26E-C830-85B6-3E3814025DA9}"/>
              </a:ext>
            </a:extLst>
          </p:cNvPr>
          <p:cNvSpPr/>
          <p:nvPr/>
        </p:nvSpPr>
        <p:spPr>
          <a:xfrm>
            <a:off x="8360725" y="3429000"/>
            <a:ext cx="1716114" cy="519465"/>
          </a:xfrm>
          <a:custGeom>
            <a:avLst/>
            <a:gdLst>
              <a:gd name="csX0" fmla="*/ 0 w 1716114"/>
              <a:gd name="csY0" fmla="*/ 0 h 519465"/>
              <a:gd name="csX1" fmla="*/ 1716114 w 1716114"/>
              <a:gd name="csY1" fmla="*/ 0 h 519465"/>
              <a:gd name="csX2" fmla="*/ 1716114 w 1716114"/>
              <a:gd name="csY2" fmla="*/ 519465 h 519465"/>
              <a:gd name="csX3" fmla="*/ 0 w 1716114"/>
              <a:gd name="csY3" fmla="*/ 519465 h 519465"/>
              <a:gd name="csX4" fmla="*/ 0 w 1716114"/>
              <a:gd name="csY4" fmla="*/ 0 h 519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519465">
                <a:moveTo>
                  <a:pt x="0" y="0"/>
                </a:moveTo>
                <a:lnTo>
                  <a:pt x="1716114" y="0"/>
                </a:lnTo>
                <a:lnTo>
                  <a:pt x="1716114" y="519465"/>
                </a:lnTo>
                <a:lnTo>
                  <a:pt x="0" y="51946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60960" rIns="106680" bIns="60960" numCol="1" spcCol="1270" anchor="ctr" anchorCtr="0">
            <a:noAutofit/>
          </a:bodyPr>
          <a:lstStyle/>
          <a:p>
            <a:pPr marL="0" lvl="0" indent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500" kern="1200"/>
              <a:t>Komprimiertes PDF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723EC620-0B95-86A3-0AB3-1997826802C7}"/>
              </a:ext>
            </a:extLst>
          </p:cNvPr>
          <p:cNvSpPr/>
          <p:nvPr/>
        </p:nvSpPr>
        <p:spPr>
          <a:xfrm>
            <a:off x="7666824" y="3948466"/>
            <a:ext cx="3189767" cy="2107645"/>
          </a:xfrm>
          <a:custGeom>
            <a:avLst/>
            <a:gdLst>
              <a:gd name="csX0" fmla="*/ 0 w 1716114"/>
              <a:gd name="csY0" fmla="*/ 0 h 2107645"/>
              <a:gd name="csX1" fmla="*/ 1716114 w 1716114"/>
              <a:gd name="csY1" fmla="*/ 0 h 2107645"/>
              <a:gd name="csX2" fmla="*/ 1716114 w 1716114"/>
              <a:gd name="csY2" fmla="*/ 2107645 h 2107645"/>
              <a:gd name="csX3" fmla="*/ 0 w 1716114"/>
              <a:gd name="csY3" fmla="*/ 2107645 h 2107645"/>
              <a:gd name="csX4" fmla="*/ 0 w 1716114"/>
              <a:gd name="csY4" fmla="*/ 0 h 2107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114" h="2107645">
                <a:moveTo>
                  <a:pt x="0" y="0"/>
                </a:moveTo>
                <a:lnTo>
                  <a:pt x="1716114" y="0"/>
                </a:lnTo>
                <a:lnTo>
                  <a:pt x="1716114" y="2107645"/>
                </a:lnTo>
                <a:lnTo>
                  <a:pt x="0" y="210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010" tIns="80010" rIns="106680" bIns="120015" numCol="1" spcCol="1270" anchor="t" anchorCtr="0">
            <a:noAutofit/>
          </a:bodyPr>
          <a:lstStyle/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 kern="1200"/>
              <a:t>Gekürzte Version (12 Seiten)</a:t>
            </a:r>
          </a:p>
          <a:p>
            <a:pPr marL="114300" lvl="1" indent="-114300" algn="l" defTabSz="66675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e-DE" sz="1400"/>
              <a:t>Repräsentiert alle Informationsebenen </a:t>
            </a:r>
            <a:br>
              <a:rPr lang="de-DE" sz="1400"/>
            </a:br>
            <a:r>
              <a:rPr lang="de-DE" sz="1400"/>
              <a:t>(Tabellen, Skizzen, Fließtexte etc.)</a:t>
            </a:r>
          </a:p>
        </p:txBody>
      </p:sp>
    </p:spTree>
    <p:extLst>
      <p:ext uri="{BB962C8B-B14F-4D97-AF65-F5344CB8AC3E}">
        <p14:creationId xmlns:p14="http://schemas.microsoft.com/office/powerpoint/2010/main" val="354290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F7EBE-A713-3297-18C8-0D14650F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Schematische Übersicht der Ansätze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587BBD-EEE9-8CF9-FE35-9EC8A55C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5F7494-ADA8-7F36-7CBB-318107603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B19C4A1-9DB3-1C39-8B24-A0D9C589633F}"/>
              </a:ext>
            </a:extLst>
          </p:cNvPr>
          <p:cNvSpPr/>
          <p:nvPr/>
        </p:nvSpPr>
        <p:spPr>
          <a:xfrm>
            <a:off x="271716" y="3104511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898AAF4-5C9E-EC9F-B3AF-05B09A869DB5}"/>
              </a:ext>
            </a:extLst>
          </p:cNvPr>
          <p:cNvSpPr/>
          <p:nvPr/>
        </p:nvSpPr>
        <p:spPr>
          <a:xfrm>
            <a:off x="1933939" y="3111469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B47C510-4636-2178-038D-FD91B6B0EB05}"/>
              </a:ext>
            </a:extLst>
          </p:cNvPr>
          <p:cNvSpPr/>
          <p:nvPr/>
        </p:nvSpPr>
        <p:spPr>
          <a:xfrm>
            <a:off x="7009212" y="2434660"/>
            <a:ext cx="1431260" cy="66985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KI-Anforderungen generieren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5AAA335-E20A-E171-52E2-15E306B4C51D}"/>
              </a:ext>
            </a:extLst>
          </p:cNvPr>
          <p:cNvSpPr/>
          <p:nvPr/>
        </p:nvSpPr>
        <p:spPr>
          <a:xfrm>
            <a:off x="5258385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Segmentierung + Vektordatenbank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9AA0B4B3-0CC4-5357-9263-576AD9488DF3}"/>
              </a:ext>
            </a:extLst>
          </p:cNvPr>
          <p:cNvSpPr/>
          <p:nvPr/>
        </p:nvSpPr>
        <p:spPr>
          <a:xfrm>
            <a:off x="3596162" y="3118428"/>
            <a:ext cx="1342656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F59AD8C9-FF32-C482-E77D-4D837CDFA1A0}"/>
              </a:ext>
            </a:extLst>
          </p:cNvPr>
          <p:cNvSpPr/>
          <p:nvPr/>
        </p:nvSpPr>
        <p:spPr>
          <a:xfrm>
            <a:off x="7009212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Retrieval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939D2A16-D4AB-A38A-F242-9A5DC527BD8F}"/>
              </a:ext>
            </a:extLst>
          </p:cNvPr>
          <p:cNvSpPr/>
          <p:nvPr/>
        </p:nvSpPr>
        <p:spPr>
          <a:xfrm>
            <a:off x="8760039" y="3788279"/>
            <a:ext cx="1431260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Augmented Generation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DBAB4B1-B21B-53F9-DC76-D96BC5747A65}"/>
              </a:ext>
            </a:extLst>
          </p:cNvPr>
          <p:cNvSpPr/>
          <p:nvPr/>
        </p:nvSpPr>
        <p:spPr>
          <a:xfrm>
            <a:off x="10510866" y="3125386"/>
            <a:ext cx="1431260" cy="669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0E23D04-ABDE-37AD-8069-6B9A421DDC6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614372" y="3439437"/>
            <a:ext cx="319567" cy="6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A63F3A-C228-401F-43A3-B5A143F7D0C2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276595" y="3446395"/>
            <a:ext cx="319567" cy="6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3D2FF79-B52D-8AD7-2FBF-477533ACA33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4938818" y="3453354"/>
            <a:ext cx="319567" cy="669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C1E06B6-871A-D796-2E99-1F480DB06D1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689645" y="4123205"/>
            <a:ext cx="3195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40A52D4-D313-23ED-D86A-5EDB22D39DF7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4938818" y="2769586"/>
            <a:ext cx="2070394" cy="683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586EFE-5563-3832-D379-586524A87C8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440472" y="4123205"/>
            <a:ext cx="3195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5759880-066B-370B-A349-426ADF9C0D8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10191299" y="3460312"/>
            <a:ext cx="319567" cy="6628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9F369CB-5B7A-0D74-1D8E-9EAB8CFBA64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8440472" y="2769586"/>
            <a:ext cx="2070394" cy="6907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945FA08B-7AF0-D47C-822F-1DABA21FCE12}"/>
              </a:ext>
            </a:extLst>
          </p:cNvPr>
          <p:cNvSpPr txBox="1"/>
          <p:nvPr/>
        </p:nvSpPr>
        <p:spPr>
          <a:xfrm>
            <a:off x="5655630" y="4682955"/>
            <a:ext cx="397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accent3"/>
                </a:solidFill>
              </a:rPr>
              <a:t>RAG-System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7C9FF2F-97D4-DE25-431B-901716115444}"/>
              </a:ext>
            </a:extLst>
          </p:cNvPr>
          <p:cNvSpPr txBox="1"/>
          <p:nvPr/>
        </p:nvSpPr>
        <p:spPr>
          <a:xfrm>
            <a:off x="5655630" y="1847077"/>
            <a:ext cx="397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chemeClr val="accent5"/>
                </a:solidFill>
              </a:rPr>
              <a:t>Doppelstufiges LLM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FE795F43-3F18-1CBA-8152-8AA7F883C519}"/>
              </a:ext>
            </a:extLst>
          </p:cNvPr>
          <p:cNvCxnSpPr>
            <a:cxnSpLocks/>
          </p:cNvCxnSpPr>
          <p:nvPr/>
        </p:nvCxnSpPr>
        <p:spPr>
          <a:xfrm>
            <a:off x="5098601" y="4641781"/>
            <a:ext cx="509269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6890D93F-6051-F00E-740D-4FF5194D31E0}"/>
              </a:ext>
            </a:extLst>
          </p:cNvPr>
          <p:cNvCxnSpPr>
            <a:cxnSpLocks/>
          </p:cNvCxnSpPr>
          <p:nvPr/>
        </p:nvCxnSpPr>
        <p:spPr>
          <a:xfrm flipV="1">
            <a:off x="5098601" y="2249904"/>
            <a:ext cx="5092698" cy="110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0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CE46E-6930-5E72-8D87-DD914079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Ansatz 1: Doppelstufiges </a:t>
            </a:r>
            <a:r>
              <a:rPr lang="de-DE" err="1"/>
              <a:t>llm</a:t>
            </a:r>
            <a:br>
              <a:rPr lang="de-DE"/>
            </a:br>
            <a:r>
              <a:rPr lang="de-DE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8B230B-874F-33A3-D721-C1A7DB8A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E95891-D5C5-72AD-0161-4AC7DC8AC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36" name="Abgerundetes Rechteck 35">
            <a:extLst>
              <a:ext uri="{FF2B5EF4-FFF2-40B4-BE49-F238E27FC236}">
                <a16:creationId xmlns:a16="http://schemas.microsoft.com/office/drawing/2014/main" id="{7E2FA1EA-E646-1D9B-D869-DCC463A078E4}"/>
              </a:ext>
            </a:extLst>
          </p:cNvPr>
          <p:cNvSpPr/>
          <p:nvPr/>
        </p:nvSpPr>
        <p:spPr>
          <a:xfrm>
            <a:off x="94508" y="3419221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6D0A293B-77B9-02CB-2712-4C67146E1E98}"/>
              </a:ext>
            </a:extLst>
          </p:cNvPr>
          <p:cNvSpPr/>
          <p:nvPr/>
        </p:nvSpPr>
        <p:spPr>
          <a:xfrm>
            <a:off x="1557881" y="3415083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27981C57-9EEC-B74F-1E87-99190E3B464A}"/>
              </a:ext>
            </a:extLst>
          </p:cNvPr>
          <p:cNvSpPr/>
          <p:nvPr/>
        </p:nvSpPr>
        <p:spPr>
          <a:xfrm>
            <a:off x="3021254" y="3415082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A77CBBC3-B317-7FCA-2B8F-5CD303B6B870}"/>
              </a:ext>
            </a:extLst>
          </p:cNvPr>
          <p:cNvSpPr/>
          <p:nvPr/>
        </p:nvSpPr>
        <p:spPr>
          <a:xfrm>
            <a:off x="6592380" y="1628826"/>
            <a:ext cx="1848092" cy="66985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KI-Anforderungen generieren</a:t>
            </a: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D812C618-A545-F418-2423-6C0433E8E8A7}"/>
              </a:ext>
            </a:extLst>
          </p:cNvPr>
          <p:cNvSpPr/>
          <p:nvPr/>
        </p:nvSpPr>
        <p:spPr>
          <a:xfrm>
            <a:off x="10710007" y="3415082"/>
            <a:ext cx="1387485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9E715EF-C113-E750-112D-BA9158A5188F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1396099" y="3598202"/>
            <a:ext cx="161782" cy="4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C2B0A6C4-36D5-89D6-4F54-1A52C0951DD4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2859472" y="3598201"/>
            <a:ext cx="16178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497A244-BD09-7DE9-AD6B-C986FDF20D36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4322845" y="1963752"/>
            <a:ext cx="2269535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085B0A7-16B6-2222-B5FB-6BB0A3DF4D7D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8440472" y="1963752"/>
            <a:ext cx="2269535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1DE325A5-65DE-4652-3D13-22C1A8E2CC6B}"/>
              </a:ext>
            </a:extLst>
          </p:cNvPr>
          <p:cNvSpPr txBox="1"/>
          <p:nvPr/>
        </p:nvSpPr>
        <p:spPr>
          <a:xfrm>
            <a:off x="6592380" y="2417356"/>
            <a:ext cx="1848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Kontext Aufbereitung für die einzelnen Chunks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Detailliertes Prompt Engineering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Aus jedem Chunk wird eine Anforderung generiert 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71178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036CF2-7604-B8C5-E03C-515D44F3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5B223-7990-3740-9F01-5DCED8AD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 </a:t>
            </a:r>
            <a:br>
              <a:rPr lang="de-DE" dirty="0"/>
            </a:br>
            <a:r>
              <a:rPr lang="de-DE" dirty="0"/>
              <a:t>Flow Chart 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1: </a:t>
            </a:r>
            <a:br>
              <a:rPr lang="de-DE" b="0" dirty="0"/>
            </a:br>
            <a:r>
              <a:rPr lang="de-DE" b="0" dirty="0"/>
              <a:t>Doppelstufiges </a:t>
            </a:r>
            <a:r>
              <a:rPr lang="de-DE" b="0" dirty="0" err="1"/>
              <a:t>llm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47F64-6DED-C1FD-6464-2F0B3EDB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414812-E4DC-7772-62E1-BD10E5AE9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63FF9-445C-8152-2BEB-9AC3B14E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966" y="289552"/>
            <a:ext cx="6159608" cy="59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A2B2-F6EB-7D96-D10F-6BBAC757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5090F-F21B-CD92-7794-C7A2A77F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Ansatz 2: eigenes RAG-System</a:t>
            </a:r>
            <a:br>
              <a:rPr lang="de-DE"/>
            </a:br>
            <a:r>
              <a:rPr lang="de-DE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E72964-785A-7265-1CCB-E8D57F61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9B7007-6EA3-A91B-8FD0-6879F7680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762EEB7-9316-A280-1D23-985C6962C3BB}"/>
              </a:ext>
            </a:extLst>
          </p:cNvPr>
          <p:cNvSpPr/>
          <p:nvPr/>
        </p:nvSpPr>
        <p:spPr>
          <a:xfrm>
            <a:off x="94508" y="3419221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PDF einlesen</a:t>
            </a:r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CABAD12-6C5B-CF38-E788-02DD1817B402}"/>
              </a:ext>
            </a:extLst>
          </p:cNvPr>
          <p:cNvSpPr/>
          <p:nvPr/>
        </p:nvSpPr>
        <p:spPr>
          <a:xfrm>
            <a:off x="1557881" y="3415083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Multimodale Datenerfassung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ABC599D4-989C-3BCA-BC55-D3E602971EBB}"/>
              </a:ext>
            </a:extLst>
          </p:cNvPr>
          <p:cNvSpPr/>
          <p:nvPr/>
        </p:nvSpPr>
        <p:spPr>
          <a:xfrm>
            <a:off x="4522543" y="1628826"/>
            <a:ext cx="1755594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Segmentierung + Vektordatenbank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ABB03F68-DE51-5707-EB36-9528EB4912B5}"/>
              </a:ext>
            </a:extLst>
          </p:cNvPr>
          <p:cNvSpPr/>
          <p:nvPr/>
        </p:nvSpPr>
        <p:spPr>
          <a:xfrm>
            <a:off x="3021254" y="3415082"/>
            <a:ext cx="1301591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Chunking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CF23869-CC3D-6A6B-B4E4-3C74210C35FA}"/>
              </a:ext>
            </a:extLst>
          </p:cNvPr>
          <p:cNvSpPr/>
          <p:nvPr/>
        </p:nvSpPr>
        <p:spPr>
          <a:xfrm>
            <a:off x="6592380" y="1628826"/>
            <a:ext cx="1848092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Retrieval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A75EC803-05F3-CABC-C08E-7A8D0E143E9F}"/>
              </a:ext>
            </a:extLst>
          </p:cNvPr>
          <p:cNvSpPr/>
          <p:nvPr/>
        </p:nvSpPr>
        <p:spPr>
          <a:xfrm>
            <a:off x="8754715" y="1628826"/>
            <a:ext cx="1755594" cy="66985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Augmented Generation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E5074471-770E-937E-B84E-04D43927FBD7}"/>
              </a:ext>
            </a:extLst>
          </p:cNvPr>
          <p:cNvSpPr/>
          <p:nvPr/>
        </p:nvSpPr>
        <p:spPr>
          <a:xfrm>
            <a:off x="10710007" y="3415082"/>
            <a:ext cx="1387485" cy="3662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INCOSE-Prüfung + Konvertierung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FDBF820-53EE-63B5-01D7-E1948F261CA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1396099" y="3598202"/>
            <a:ext cx="161782" cy="4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B8A4B06-0216-5ABB-6B72-54B60F9A975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859472" y="3598201"/>
            <a:ext cx="16178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6E7BB20-9A4B-024A-3D71-78D488C4209B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322845" y="1963752"/>
            <a:ext cx="199698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1FE9C0B-6526-2239-E2A0-7850019013E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278137" y="1963752"/>
            <a:ext cx="31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E55605A-8EBF-C81D-2CA4-82EC40F13F1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440472" y="1963752"/>
            <a:ext cx="3142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D201E9F-6D0B-61EA-D431-3D1B29C59AC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0510309" y="1963752"/>
            <a:ext cx="199698" cy="1634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A0A82367-E12E-DA0B-9B14-23FF3922F4F1}"/>
              </a:ext>
            </a:extLst>
          </p:cNvPr>
          <p:cNvSpPr txBox="1"/>
          <p:nvPr/>
        </p:nvSpPr>
        <p:spPr>
          <a:xfrm>
            <a:off x="4522543" y="2417356"/>
            <a:ext cx="17555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Umwandlung der Textsegmente in semantische </a:t>
            </a:r>
            <a:r>
              <a:rPr lang="de-DE" sz="1200" dirty="0" err="1"/>
              <a:t>Embeddings</a:t>
            </a:r>
            <a:endParaRPr lang="de-DE" sz="1200" dirty="0"/>
          </a:p>
          <a:p>
            <a:pPr marL="285750" indent="-285750">
              <a:buFont typeface="Symbol" pitchFamily="2" charset="2"/>
              <a:buChar char="-"/>
            </a:pPr>
            <a:r>
              <a:rPr lang="de-DE" sz="1200" dirty="0"/>
              <a:t>Aufbau </a:t>
            </a:r>
            <a:r>
              <a:rPr lang="de-DE" sz="1200"/>
              <a:t>einer Vektordatenbank</a:t>
            </a:r>
            <a:r>
              <a:rPr lang="de-DE" sz="1200" dirty="0"/>
              <a:t> zur effizienten Speicherung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A2623E7-EEF7-F116-00C0-4BAEE6A96FA1}"/>
              </a:ext>
            </a:extLst>
          </p:cNvPr>
          <p:cNvSpPr txBox="1"/>
          <p:nvPr/>
        </p:nvSpPr>
        <p:spPr>
          <a:xfrm>
            <a:off x="6592380" y="2417356"/>
            <a:ext cx="1848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Steuerung über themenbasierte Schlüsselwörter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Transformation und semantischer Vergleich der Suchanfragen mit den Dokumentvektoren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Auswahl der Top-k ähnlichsten Inhalte (k = 15)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FA9C220-42AC-5B98-5544-6DD403AA4D10}"/>
              </a:ext>
            </a:extLst>
          </p:cNvPr>
          <p:cNvSpPr txBox="1"/>
          <p:nvPr/>
        </p:nvSpPr>
        <p:spPr>
          <a:xfrm>
            <a:off x="8754714" y="2417356"/>
            <a:ext cx="17555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de-DE" sz="1200"/>
              <a:t>Erstellung von Anforderungen auf Basis der extrahierten Vektoren </a:t>
            </a:r>
          </a:p>
        </p:txBody>
      </p:sp>
    </p:spTree>
    <p:extLst>
      <p:ext uri="{BB962C8B-B14F-4D97-AF65-F5344CB8AC3E}">
        <p14:creationId xmlns:p14="http://schemas.microsoft.com/office/powerpoint/2010/main" val="207730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204DE7-8B14-4B95-25DC-33801F03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CB8E7-6342-2AA3-DE5C-4974194B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 </a:t>
            </a:r>
            <a:br>
              <a:rPr lang="de-DE" dirty="0"/>
            </a:br>
            <a:r>
              <a:rPr lang="de-DE" dirty="0"/>
              <a:t>Flow Chart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2: </a:t>
            </a:r>
            <a:br>
              <a:rPr lang="de-DE" b="0" dirty="0"/>
            </a:br>
            <a:r>
              <a:rPr lang="de-DE" b="0" dirty="0"/>
              <a:t>eigenes RAG-System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3E31C7-BBC1-E525-4412-CCA67DA4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BC484-1332-45FD-FC27-6C191DD4F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F50295-0921-BD08-8BF5-DDE81E4EB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95" y="90536"/>
            <a:ext cx="5783933" cy="61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63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DDE515-7FA1-CB18-C4AC-BE321ACC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6F384-662D-F6AC-426C-E93A962A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Ergänzender</a:t>
            </a:r>
            <a:br>
              <a:rPr lang="de-DE" dirty="0"/>
            </a:br>
            <a:r>
              <a:rPr lang="de-DE" dirty="0"/>
              <a:t>Fragenkatalog</a:t>
            </a:r>
            <a:br>
              <a:rPr lang="de-DE" dirty="0"/>
            </a:br>
            <a:br>
              <a:rPr lang="de-DE" dirty="0"/>
            </a:br>
            <a:r>
              <a:rPr lang="de-DE" b="0" dirty="0"/>
              <a:t>Ansatz 2: </a:t>
            </a:r>
            <a:br>
              <a:rPr lang="de-DE" b="0" dirty="0"/>
            </a:br>
            <a:r>
              <a:rPr lang="de-DE" b="0" dirty="0"/>
              <a:t>eigenes RAG-System</a:t>
            </a:r>
            <a:br>
              <a:rPr lang="de-DE" b="0" dirty="0"/>
            </a:br>
            <a:r>
              <a:rPr lang="de-DE" b="0" dirty="0"/>
              <a:t>Methodik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86CFA-C623-9484-DDD3-EA09A45A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E8128B-4EB5-AC5F-D477-709840C92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C38BC-5CC6-B602-ABFB-1910E8F05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510" y="82858"/>
            <a:ext cx="5826736" cy="616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0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A4BEA-2BF8-B855-CD26-9EF6133F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Methodik der Ansätze und Bewertung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A7C54F-24CE-685C-284A-776FADF34B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1716549"/>
            <a:ext cx="10922000" cy="3327400"/>
          </a:xfrm>
        </p:spPr>
        <p:txBody>
          <a:bodyPr/>
          <a:lstStyle/>
          <a:p>
            <a:pPr marL="342900" indent="-342900">
              <a:buFont typeface="Symbol" pitchFamily="2" charset="2"/>
              <a:buChar char="-"/>
            </a:pPr>
            <a:r>
              <a:rPr lang="de-DE"/>
              <a:t>Qualitative Bewertung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/>
              <a:t>Vergleich mit menschlich erstellter Anforderungsliste (Intersubjektive Validierung)</a:t>
            </a:r>
          </a:p>
          <a:p>
            <a:pPr marL="342900" indent="-342900">
              <a:buFont typeface="Symbol" pitchFamily="2" charset="2"/>
              <a:buChar char="-"/>
            </a:pP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D18E58-0962-F1B2-8E2E-B977571C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93B17D-9A5C-7E25-A24F-8506DFF76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5031179-A2F5-645A-5786-A684CE29F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04613"/>
              </p:ext>
            </p:extLst>
          </p:nvPr>
        </p:nvGraphicFramePr>
        <p:xfrm>
          <a:off x="2282282" y="2767750"/>
          <a:ext cx="7627435" cy="308411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904754">
                  <a:extLst>
                    <a:ext uri="{9D8B030D-6E8A-4147-A177-3AD203B41FA5}">
                      <a16:colId xmlns:a16="http://schemas.microsoft.com/office/drawing/2014/main" val="342524177"/>
                    </a:ext>
                  </a:extLst>
                </a:gridCol>
                <a:gridCol w="5722681">
                  <a:extLst>
                    <a:ext uri="{9D8B030D-6E8A-4147-A177-3AD203B41FA5}">
                      <a16:colId xmlns:a16="http://schemas.microsoft.com/office/drawing/2014/main" val="264844225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Kriterium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Erklärung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99809099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Rückverfolgbarkeit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bezieht sich eindeutig auf eine konkrete Aussage oder Textstelle des Pflichtenheftes und lässt sich einwandfrei auf diese zurückführen.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716351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Vollständigkeit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Die Anforderung enthält alle für ihre Aussage notwendigen Bestandteile und es fehlen somit keine wesentlichen Informationen aus dem Ursprungsinhalt.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1204042"/>
                  </a:ext>
                </a:extLst>
              </a:tr>
              <a:tr h="23543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Eindeutigkeit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ist interpretationsarm formuliert.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5026364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Redundanzfreiheit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ist nicht doppelt vorhanden oder ist nicht überlappend mit einer anderen Anforderung.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425867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Atomarität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beinhaltet einen klar abgrenzbaren Sachverhalt bzw. eine klar abgrenzbare Forderung.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4404195"/>
                  </a:ext>
                </a:extLst>
              </a:tr>
              <a:tr h="4562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Inhaltliche Präzision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Die Anforderung gibt den Inhalt des Pflichtenheftes semantisch korrekt wieder ohne Informationen zu verfälschen oder unbegründet zu erweitern.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9394222"/>
                  </a:ext>
                </a:extLst>
              </a:tr>
              <a:tr h="23543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Validierungsmethode</a:t>
                      </a:r>
                      <a:endParaRPr lang="de-DE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dirty="0">
                          <a:effectLst/>
                        </a:rPr>
                        <a:t>Der Anforderung wird eine passende Validierungsmethode zugeordnet.</a:t>
                      </a:r>
                      <a:endParaRPr lang="de-DE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530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145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9898-2F1C-DF59-8DF7-80776C0C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BEC4D-6D35-E7E1-5141-280CA987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38078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Rückverfolgbarkeit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F27B59-D41F-6CF9-E94E-8DAAF667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2BD4A5-4BC4-6E35-3DA6-DB2B0063E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7398A7AE-473F-4F88-3E41-595DEF824A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AFECDE57-D6D6-A3C0-AA4D-AF6EDBA708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79ED1E88-78A1-09DE-BE92-00CC2D9E3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C6234F96-F811-3BBB-7F6D-A5A0F0903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1B399FB8-9A97-0F85-76D5-A5A9BCDAEB00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Klare Zuordnung der Chunks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Seitenzahlen  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Kapitelnummern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E2AD16E-269C-F350-1194-2940987D48E2}"/>
              </a:ext>
            </a:extLst>
          </p:cNvPr>
          <p:cNvSpPr txBox="1"/>
          <p:nvPr/>
        </p:nvSpPr>
        <p:spPr>
          <a:xfrm>
            <a:off x="1377386" y="4644718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Tabellen &amp; Abbildungen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AA8AD82A-4CB7-9471-FF0E-A7286D5EB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EF3543AA-5F1C-FC93-C934-40CE25681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0E1164C6-14FC-9F7B-43DF-22A1FDA279A3}"/>
              </a:ext>
            </a:extLst>
          </p:cNvPr>
          <p:cNvSpPr txBox="1"/>
          <p:nvPr/>
        </p:nvSpPr>
        <p:spPr>
          <a:xfrm>
            <a:off x="7141564" y="3041570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Seitenzahlen</a:t>
            </a:r>
          </a:p>
          <a:p>
            <a:pPr marL="342900" indent="-342900">
              <a:buFont typeface="Symbol" pitchFamily="2" charset="2"/>
              <a:buChar char="-"/>
            </a:pPr>
            <a:endParaRPr lang="de-DE" sz="200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B2598C5-5F95-1EDE-4077-9DB8A2088EB1}"/>
              </a:ext>
            </a:extLst>
          </p:cNvPr>
          <p:cNvSpPr txBox="1"/>
          <p:nvPr/>
        </p:nvSpPr>
        <p:spPr>
          <a:xfrm>
            <a:off x="7141564" y="4644718"/>
            <a:ext cx="43630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Kapitelnummern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Nicht klar zuzuordnen, welcher Chunk maßgeblich für die Anforderung ist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Tabellen &amp; Abbildungen</a:t>
            </a:r>
          </a:p>
        </p:txBody>
      </p:sp>
    </p:spTree>
    <p:extLst>
      <p:ext uri="{BB962C8B-B14F-4D97-AF65-F5344CB8AC3E}">
        <p14:creationId xmlns:p14="http://schemas.microsoft.com/office/powerpoint/2010/main" val="920498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C7D1-CC7C-2AF5-38DB-0540218A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F7B5E-6EEB-C29B-56F1-2783DF27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38078"/>
          </a:xfrm>
        </p:spPr>
        <p:txBody>
          <a:bodyPr/>
          <a:lstStyle/>
          <a:p>
            <a:r>
              <a:rPr lang="de-DE"/>
              <a:t>Ergebnisse &amp; Vergleich der Ansätze</a:t>
            </a:r>
            <a:br>
              <a:rPr lang="de-DE"/>
            </a:br>
            <a:r>
              <a:rPr lang="de-DE" b="0"/>
              <a:t>Vollständigkeit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215117-8351-ABE5-050A-1F91AFBF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94E77B-19C9-33E7-040C-A11B65D65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 dirty="0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36BA443D-0FD5-80A0-D0A7-DE652C4E0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38AE8275-9958-5EFA-021E-BE8F6EDCA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1A87AACC-3919-CC17-956E-195C8E6BA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7E7C8E88-5953-AEDF-3504-AE8B07052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B98022B2-A2F7-E6C6-19A9-E7809D4EC93A}"/>
              </a:ext>
            </a:extLst>
          </p:cNvPr>
          <p:cNvSpPr txBox="1"/>
          <p:nvPr/>
        </p:nvSpPr>
        <p:spPr>
          <a:xfrm>
            <a:off x="1377386" y="3041570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Jeder Chunk wird bearbeitet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CEBF6F4-CA35-D750-844B-F3463688506A}"/>
              </a:ext>
            </a:extLst>
          </p:cNvPr>
          <p:cNvSpPr txBox="1"/>
          <p:nvPr/>
        </p:nvSpPr>
        <p:spPr>
          <a:xfrm>
            <a:off x="1377386" y="4644718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Tabellen &amp; Überschriften (Kontextverlust)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Chunks &lt; 20 Zeichen ignoriert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FE9814CF-FEE9-4CC5-30F6-F4F6DAC0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2D20FD27-D373-4C08-D924-EC0C241B4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FEDE2F68-38A8-ED87-2338-74FBF71CC978}"/>
              </a:ext>
            </a:extLst>
          </p:cNvPr>
          <p:cNvSpPr txBox="1"/>
          <p:nvPr/>
        </p:nvSpPr>
        <p:spPr>
          <a:xfrm>
            <a:off x="7141564" y="4644718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Ganze Kapitel werden gar nicht berücksichtigt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Fokus auf Seiten 7-10</a:t>
            </a:r>
          </a:p>
        </p:txBody>
      </p:sp>
    </p:spTree>
    <p:extLst>
      <p:ext uri="{BB962C8B-B14F-4D97-AF65-F5344CB8AC3E}">
        <p14:creationId xmlns:p14="http://schemas.microsoft.com/office/powerpoint/2010/main" val="1726572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3E9E-27A9-D2D0-BC24-B7206C7D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A27E2-BF9C-5E12-9C19-CDA3AFB7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Eindeutigkeit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0C741C-6AEA-52AA-A65D-A1517F44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39F299-EEAF-4B61-A36D-E2076D909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3368E2CE-AE7E-58D8-18D5-FDEAFF608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5FE451A4-2474-3DE8-50F8-736C28685A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F5C15B2D-188E-03B2-7E92-6A3E0511C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1C98ABDE-2169-8521-ECB1-B5C686A3D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2C845070-58A7-40A9-9CC4-40C6979C8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4EE3DB8F-AB45-A3A5-EE52-06279CF27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6D21E06A-97E2-AFE7-0F6C-B9EAE32D7D66}"/>
              </a:ext>
            </a:extLst>
          </p:cNvPr>
          <p:cNvSpPr txBox="1"/>
          <p:nvPr/>
        </p:nvSpPr>
        <p:spPr>
          <a:xfrm>
            <a:off x="7193987" y="4387573"/>
            <a:ext cx="43630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Beginnt mit „Das System…“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Zuordnung zu tatsächlichen Bereichen/Teilsystemen fehlt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dirty="0"/>
              <a:t>Identisch formulierte Anforderungen mit unterschiedlichen Werten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DE10BB6-9D21-C1F3-B509-742F9B8B81CD}"/>
              </a:ext>
            </a:extLst>
          </p:cNvPr>
          <p:cNvSpPr txBox="1"/>
          <p:nvPr/>
        </p:nvSpPr>
        <p:spPr>
          <a:xfrm>
            <a:off x="1377387" y="4644173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Nicht eindeutige Anforderungen vor allem aus Tabellen und Abbildungen (Kontextverlust)</a:t>
            </a:r>
          </a:p>
        </p:txBody>
      </p:sp>
    </p:spTree>
    <p:extLst>
      <p:ext uri="{BB962C8B-B14F-4D97-AF65-F5344CB8AC3E}">
        <p14:creationId xmlns:p14="http://schemas.microsoft.com/office/powerpoint/2010/main" val="81764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F5C-0BD6-3F21-FA7E-E4026358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C3DB2-7189-67A0-0436-EA192670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Redundanzfreiheit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777BFF-2DAA-CD0E-F894-F11B0FDA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9D9C8-2A88-59BC-7595-894E201F7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89E57289-F344-38F9-9FDD-9D9339B40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CDF4C633-C7FE-2839-38E5-B8792E05F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25" name="Grafik 24" descr="Abzeichen Tick1 mit einfarbiger Füllung">
            <a:extLst>
              <a:ext uri="{FF2B5EF4-FFF2-40B4-BE49-F238E27FC236}">
                <a16:creationId xmlns:a16="http://schemas.microsoft.com/office/drawing/2014/main" id="{BBCE8EFC-F09E-794B-AB94-D5D35CE37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26" name="Grafik 25" descr="Markee nicht mehr folgen mit einfarbiger Füllung">
            <a:extLst>
              <a:ext uri="{FF2B5EF4-FFF2-40B4-BE49-F238E27FC236}">
                <a16:creationId xmlns:a16="http://schemas.microsoft.com/office/drawing/2014/main" id="{BDC2F4E2-7907-8322-0A3A-721A91699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6CCF69FD-B783-2A55-662A-5FE3DFF61326}"/>
              </a:ext>
            </a:extLst>
          </p:cNvPr>
          <p:cNvSpPr txBox="1"/>
          <p:nvPr/>
        </p:nvSpPr>
        <p:spPr>
          <a:xfrm>
            <a:off x="1377386" y="4644718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Mehrere Dopplungen durch textlastige Tabellen</a:t>
            </a:r>
          </a:p>
        </p:txBody>
      </p:sp>
      <p:pic>
        <p:nvPicPr>
          <p:cNvPr id="29" name="Grafik 28" descr="Abzeichen Tick1 mit einfarbiger Füllung">
            <a:extLst>
              <a:ext uri="{FF2B5EF4-FFF2-40B4-BE49-F238E27FC236}">
                <a16:creationId xmlns:a16="http://schemas.microsoft.com/office/drawing/2014/main" id="{F95E762F-53FE-4D54-2B9A-568DF5E88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30" name="Grafik 29" descr="Markee nicht mehr folgen mit einfarbiger Füllung">
            <a:extLst>
              <a:ext uri="{FF2B5EF4-FFF2-40B4-BE49-F238E27FC236}">
                <a16:creationId xmlns:a16="http://schemas.microsoft.com/office/drawing/2014/main" id="{D611420D-E59E-86AE-2166-BF22EA442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85C45F6-B5C3-9854-5BE4-8463BAAE10B8}"/>
              </a:ext>
            </a:extLst>
          </p:cNvPr>
          <p:cNvSpPr txBox="1"/>
          <p:nvPr/>
        </p:nvSpPr>
        <p:spPr>
          <a:xfrm>
            <a:off x="7141564" y="4644718"/>
            <a:ext cx="43630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Mehrere Dopplungen </a:t>
            </a:r>
          </a:p>
          <a:p>
            <a:r>
              <a:rPr lang="de-DE" sz="2000" dirty="0"/>
              <a:t>     (5 Anforderungen fast identisch)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 dirty="0"/>
              <a:t>Tatsächliche Dopplung oder liegt der Fehler in der Eindeutigkeit?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43219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B98C-FFF9-0753-EB10-09FF9163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D6CCE-7C07-A3C5-9713-585EBD68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07886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 err="1"/>
              <a:t>Atomarität</a:t>
            </a:r>
            <a:endParaRPr lang="de-DE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49C13D-6282-6BD4-A081-B8B08139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43D31-EFA6-0C98-C61A-437C7A04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D648CCC9-8843-569B-D6B5-D9BA3FE014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34" name="Textplatzhalter 10">
            <a:extLst>
              <a:ext uri="{FF2B5EF4-FFF2-40B4-BE49-F238E27FC236}">
                <a16:creationId xmlns:a16="http://schemas.microsoft.com/office/drawing/2014/main" id="{83066C20-3641-4EA8-5666-479FFB885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35" name="Grafik 34" descr="Abzeichen Tick1 mit einfarbiger Füllung">
            <a:extLst>
              <a:ext uri="{FF2B5EF4-FFF2-40B4-BE49-F238E27FC236}">
                <a16:creationId xmlns:a16="http://schemas.microsoft.com/office/drawing/2014/main" id="{B4C37B88-CEE9-EA16-38AE-04FEEAE54D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36" name="Grafik 35" descr="Markee nicht mehr folgen mit einfarbiger Füllung">
            <a:extLst>
              <a:ext uri="{FF2B5EF4-FFF2-40B4-BE49-F238E27FC236}">
                <a16:creationId xmlns:a16="http://schemas.microsoft.com/office/drawing/2014/main" id="{16E29682-3450-5E32-2E73-9514633BD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8386E1E8-0278-BCA4-646A-334947C27E3C}"/>
              </a:ext>
            </a:extLst>
          </p:cNvPr>
          <p:cNvSpPr txBox="1"/>
          <p:nvPr/>
        </p:nvSpPr>
        <p:spPr>
          <a:xfrm>
            <a:off x="1377386" y="4644718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Probleme bei Chunks, die mehr als eine Anforderung beinhalten</a:t>
            </a:r>
          </a:p>
        </p:txBody>
      </p:sp>
      <p:pic>
        <p:nvPicPr>
          <p:cNvPr id="39" name="Grafik 38" descr="Abzeichen Tick1 mit einfarbiger Füllung">
            <a:extLst>
              <a:ext uri="{FF2B5EF4-FFF2-40B4-BE49-F238E27FC236}">
                <a16:creationId xmlns:a16="http://schemas.microsoft.com/office/drawing/2014/main" id="{C26BAE2F-29C6-F179-292C-C0668A6AA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40" name="Grafik 39" descr="Markee nicht mehr folgen mit einfarbiger Füllung">
            <a:extLst>
              <a:ext uri="{FF2B5EF4-FFF2-40B4-BE49-F238E27FC236}">
                <a16:creationId xmlns:a16="http://schemas.microsoft.com/office/drawing/2014/main" id="{D8FC576B-92EF-682C-B676-9792E6200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6" name="Textfeld 37">
            <a:extLst>
              <a:ext uri="{FF2B5EF4-FFF2-40B4-BE49-F238E27FC236}">
                <a16:creationId xmlns:a16="http://schemas.microsoft.com/office/drawing/2014/main" id="{073B6278-50AD-A2A7-E4B9-A64C289118A0}"/>
              </a:ext>
            </a:extLst>
          </p:cNvPr>
          <p:cNvSpPr txBox="1"/>
          <p:nvPr/>
        </p:nvSpPr>
        <p:spPr>
          <a:xfrm>
            <a:off x="1246222" y="2869421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Grundsätzlich gegeben (INCOSE)</a:t>
            </a:r>
          </a:p>
        </p:txBody>
      </p:sp>
      <p:sp>
        <p:nvSpPr>
          <p:cNvPr id="7" name="Textfeld 37">
            <a:extLst>
              <a:ext uri="{FF2B5EF4-FFF2-40B4-BE49-F238E27FC236}">
                <a16:creationId xmlns:a16="http://schemas.microsoft.com/office/drawing/2014/main" id="{8FABAA14-A187-A459-1A65-AF944E50A11A}"/>
              </a:ext>
            </a:extLst>
          </p:cNvPr>
          <p:cNvSpPr txBox="1"/>
          <p:nvPr/>
        </p:nvSpPr>
        <p:spPr>
          <a:xfrm>
            <a:off x="7010400" y="2869421"/>
            <a:ext cx="436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Grundsätzlich gegeben (INCOSE)</a:t>
            </a:r>
          </a:p>
        </p:txBody>
      </p:sp>
    </p:spTree>
    <p:extLst>
      <p:ext uri="{BB962C8B-B14F-4D97-AF65-F5344CB8AC3E}">
        <p14:creationId xmlns:p14="http://schemas.microsoft.com/office/powerpoint/2010/main" val="264518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D2877-F209-5E20-AFE5-66E02C7D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126DA-F0FB-4BC5-7459-EC6FD2AAE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707886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Inhaltliche präzision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4B9E55-911D-4019-FC7F-4C08BF51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1A3B82-BFF2-70A5-E4E6-00C32E1C1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5F2ADEB6-2892-404C-9581-09F6B9C487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34" name="Textplatzhalter 10">
            <a:extLst>
              <a:ext uri="{FF2B5EF4-FFF2-40B4-BE49-F238E27FC236}">
                <a16:creationId xmlns:a16="http://schemas.microsoft.com/office/drawing/2014/main" id="{3532085F-0CC0-5844-E3FE-12356BBB6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pic>
        <p:nvPicPr>
          <p:cNvPr id="35" name="Grafik 34" descr="Abzeichen Tick1 mit einfarbiger Füllung">
            <a:extLst>
              <a:ext uri="{FF2B5EF4-FFF2-40B4-BE49-F238E27FC236}">
                <a16:creationId xmlns:a16="http://schemas.microsoft.com/office/drawing/2014/main" id="{67EF7B44-C915-5102-F00C-E1E3302FC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36" name="Grafik 35" descr="Markee nicht mehr folgen mit einfarbiger Füllung">
            <a:extLst>
              <a:ext uri="{FF2B5EF4-FFF2-40B4-BE49-F238E27FC236}">
                <a16:creationId xmlns:a16="http://schemas.microsoft.com/office/drawing/2014/main" id="{328CCB57-9760-A7F1-55C5-7A79241E3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pic>
        <p:nvPicPr>
          <p:cNvPr id="39" name="Grafik 38" descr="Abzeichen Tick1 mit einfarbiger Füllung">
            <a:extLst>
              <a:ext uri="{FF2B5EF4-FFF2-40B4-BE49-F238E27FC236}">
                <a16:creationId xmlns:a16="http://schemas.microsoft.com/office/drawing/2014/main" id="{C9B273DF-1D01-DAEB-A985-B6BAA38B8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40" name="Grafik 39" descr="Markee nicht mehr folgen mit einfarbiger Füllung">
            <a:extLst>
              <a:ext uri="{FF2B5EF4-FFF2-40B4-BE49-F238E27FC236}">
                <a16:creationId xmlns:a16="http://schemas.microsoft.com/office/drawing/2014/main" id="{1FB53416-7F36-6A5E-5F0A-02399715F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6" name="Textfeld 37">
            <a:extLst>
              <a:ext uri="{FF2B5EF4-FFF2-40B4-BE49-F238E27FC236}">
                <a16:creationId xmlns:a16="http://schemas.microsoft.com/office/drawing/2014/main" id="{558DDEFB-63A2-CE7E-353A-9A16F91B4B46}"/>
              </a:ext>
            </a:extLst>
          </p:cNvPr>
          <p:cNvSpPr txBox="1"/>
          <p:nvPr/>
        </p:nvSpPr>
        <p:spPr>
          <a:xfrm>
            <a:off x="1246222" y="2869421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Keine falschen/halluzinierten Zahlenwerte etc.</a:t>
            </a:r>
          </a:p>
        </p:txBody>
      </p:sp>
      <p:sp>
        <p:nvSpPr>
          <p:cNvPr id="7" name="Textfeld 37">
            <a:extLst>
              <a:ext uri="{FF2B5EF4-FFF2-40B4-BE49-F238E27FC236}">
                <a16:creationId xmlns:a16="http://schemas.microsoft.com/office/drawing/2014/main" id="{7AB2E0CD-BD41-8C76-56F8-D3FD68D9BE2B}"/>
              </a:ext>
            </a:extLst>
          </p:cNvPr>
          <p:cNvSpPr txBox="1"/>
          <p:nvPr/>
        </p:nvSpPr>
        <p:spPr>
          <a:xfrm>
            <a:off x="7010400" y="4634722"/>
            <a:ext cx="4363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 dirty="0"/>
              <a:t>Eine Halluzination konnte festgestellt werden</a:t>
            </a:r>
          </a:p>
        </p:txBody>
      </p:sp>
      <p:sp>
        <p:nvSpPr>
          <p:cNvPr id="8" name="Rechteck 6">
            <a:extLst>
              <a:ext uri="{FF2B5EF4-FFF2-40B4-BE49-F238E27FC236}">
                <a16:creationId xmlns:a16="http://schemas.microsoft.com/office/drawing/2014/main" id="{DF4234DE-F7D3-D9F6-B5DB-0974D5956A8E}"/>
              </a:ext>
            </a:extLst>
          </p:cNvPr>
          <p:cNvSpPr/>
          <p:nvPr/>
        </p:nvSpPr>
        <p:spPr>
          <a:xfrm>
            <a:off x="2383848" y="2197528"/>
            <a:ext cx="7437005" cy="3223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u="sng">
                <a:solidFill>
                  <a:schemeClr val="tx1"/>
                </a:solidFill>
              </a:rPr>
              <a:t>Halluzinierte Anforderung:</a:t>
            </a:r>
          </a:p>
          <a:p>
            <a:pPr algn="ctr"/>
            <a:endParaRPr lang="de-DE" sz="2000">
              <a:solidFill>
                <a:schemeClr val="tx1"/>
              </a:solidFill>
            </a:endParaRPr>
          </a:p>
          <a:p>
            <a:pPr algn="ctr"/>
            <a:r>
              <a:rPr lang="de-DE" sz="2000">
                <a:solidFill>
                  <a:schemeClr val="tx1"/>
                </a:solidFill>
              </a:rPr>
              <a:t>„Das System muss so lackiert werden, </a:t>
            </a:r>
          </a:p>
          <a:p>
            <a:pPr algn="ctr"/>
            <a:r>
              <a:rPr lang="de-DE" sz="2000">
                <a:solidFill>
                  <a:schemeClr val="tx1"/>
                </a:solidFill>
              </a:rPr>
              <a:t>dass mindestens 95 % der Systembauteile mit </a:t>
            </a:r>
          </a:p>
          <a:p>
            <a:pPr algn="ctr"/>
            <a:r>
              <a:rPr lang="de-DE" sz="2000">
                <a:solidFill>
                  <a:schemeClr val="tx1"/>
                </a:solidFill>
              </a:rPr>
              <a:t>Epoxidharz-Polyesterpulverlack lackiert werden.“</a:t>
            </a:r>
          </a:p>
        </p:txBody>
      </p:sp>
    </p:spTree>
    <p:extLst>
      <p:ext uri="{BB962C8B-B14F-4D97-AF65-F5344CB8AC3E}">
        <p14:creationId xmlns:p14="http://schemas.microsoft.com/office/powerpoint/2010/main" val="256577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07E5-E4EA-218C-BCD4-2C79DA7E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4BB00-677C-0C1B-C42B-FF5AF702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89"/>
            <a:ext cx="10934700" cy="701389"/>
          </a:xfrm>
        </p:spPr>
        <p:txBody>
          <a:bodyPr/>
          <a:lstStyle/>
          <a:p>
            <a:r>
              <a:rPr lang="de-DE" dirty="0"/>
              <a:t>Ergebnisse &amp; Vergleich der Ansätze</a:t>
            </a:r>
            <a:br>
              <a:rPr lang="de-DE" dirty="0"/>
            </a:br>
            <a:r>
              <a:rPr lang="de-DE" b="0" dirty="0"/>
              <a:t>Validierungsmethoden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13F121E-10F9-3B5E-7C4A-FAAE059F23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159000"/>
            <a:ext cx="5105400" cy="400110"/>
          </a:xfrm>
        </p:spPr>
        <p:txBody>
          <a:bodyPr/>
          <a:lstStyle/>
          <a:p>
            <a:r>
              <a:rPr lang="de-DE"/>
              <a:t>Doppelstufiges LLM: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76AAE1-4894-B17D-B46D-B07757C520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4300" y="2159000"/>
            <a:ext cx="5105400" cy="400110"/>
          </a:xfrm>
        </p:spPr>
        <p:txBody>
          <a:bodyPr/>
          <a:lstStyle/>
          <a:p>
            <a:r>
              <a:rPr lang="de-DE"/>
              <a:t>Eigenes RAG: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D88CD-8EF6-1224-3619-F431227C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D46AD8-344E-1DBE-C3B5-809BC5286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/>
              <a:t>| PFLICHTENHEFTANALYSE | GRUPPE 2</a:t>
            </a: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93A9AB81-9868-E639-02B6-90AE9B57F3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822" y="2783091"/>
            <a:ext cx="914400" cy="914400"/>
          </a:xfrm>
          <a:prstGeom prst="rect">
            <a:avLst/>
          </a:prstGeom>
        </p:spPr>
      </p:pic>
      <p:pic>
        <p:nvPicPr>
          <p:cNvPr id="7" name="Grafik 6" descr="Markee nicht mehr folgen mit einfarbiger Füllung">
            <a:extLst>
              <a:ext uri="{FF2B5EF4-FFF2-40B4-BE49-F238E27FC236}">
                <a16:creationId xmlns:a16="http://schemas.microsoft.com/office/drawing/2014/main" id="{C2695DC9-DE37-7DDC-5F48-26E35DD3F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822" y="4387573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7727702-7A3B-E2AA-FA7E-325388CBE1D9}"/>
              </a:ext>
            </a:extLst>
          </p:cNvPr>
          <p:cNvSpPr txBox="1"/>
          <p:nvPr/>
        </p:nvSpPr>
        <p:spPr>
          <a:xfrm>
            <a:off x="1377386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Weitgehende Übereinstimmung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Inhaltlich korrekt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Keine Halluzinationen</a:t>
            </a:r>
          </a:p>
        </p:txBody>
      </p:sp>
      <p:pic>
        <p:nvPicPr>
          <p:cNvPr id="14" name="Grafik 13" descr="Abzeichen Tick1 mit einfarbiger Füllung">
            <a:extLst>
              <a:ext uri="{FF2B5EF4-FFF2-40B4-BE49-F238E27FC236}">
                <a16:creationId xmlns:a16="http://schemas.microsoft.com/office/drawing/2014/main" id="{BDECA93F-2F1C-3CBE-8E2E-5426DB0CCA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783091"/>
            <a:ext cx="914400" cy="914400"/>
          </a:xfrm>
          <a:prstGeom prst="rect">
            <a:avLst/>
          </a:prstGeom>
        </p:spPr>
      </p:pic>
      <p:pic>
        <p:nvPicPr>
          <p:cNvPr id="15" name="Grafik 14" descr="Markee nicht mehr folgen mit einfarbiger Füllung">
            <a:extLst>
              <a:ext uri="{FF2B5EF4-FFF2-40B4-BE49-F238E27FC236}">
                <a16:creationId xmlns:a16="http://schemas.microsoft.com/office/drawing/2014/main" id="{9D7587DC-A8E4-C09F-3275-9CEBEFAFA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387573"/>
            <a:ext cx="914400" cy="91440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3F5B1037-50FE-E542-219A-040810395AD6}"/>
              </a:ext>
            </a:extLst>
          </p:cNvPr>
          <p:cNvSpPr txBox="1"/>
          <p:nvPr/>
        </p:nvSpPr>
        <p:spPr>
          <a:xfrm>
            <a:off x="7141564" y="3041570"/>
            <a:ext cx="4363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Weitgehende Übereinstimmung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Inhaltlich korrekt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sz="2000"/>
              <a:t>Keine Halluzinationen</a:t>
            </a:r>
          </a:p>
        </p:txBody>
      </p:sp>
    </p:spTree>
    <p:extLst>
      <p:ext uri="{BB962C8B-B14F-4D97-AF65-F5344CB8AC3E}">
        <p14:creationId xmlns:p14="http://schemas.microsoft.com/office/powerpoint/2010/main" val="283321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2C1F8-9D7B-4A2E-CD08-64583D71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8190"/>
            <a:ext cx="10934700" cy="365126"/>
          </a:xfrm>
        </p:spPr>
        <p:txBody>
          <a:bodyPr/>
          <a:lstStyle/>
          <a:p>
            <a:r>
              <a:rPr lang="de-DE" dirty="0"/>
              <a:t>Einordnung der Ergebnisse &amp; Ausblick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BEA99-DDBB-C7EE-20B0-65174F453B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de-DE" b="1" dirty="0"/>
              <a:t>Einordnung der Ergebnisse...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Viele ermittelten Schwächen der Ansätze scheinen nicht auf den Ansatz selbst, sondern die Umsetzung zurückzuführen zu sein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dirty="0"/>
              <a:t>Optimieren der Codes (z.B. Loop um nicht atomare Anforderungen zu „separieren“)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dirty="0"/>
              <a:t>Optimieren des Fragenkatalogs (deutlich detaillierter und/oder auf konkreten Anwendungsfall zugeschnitten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7877441-4100-AC29-F1D0-3B67BC6D3A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2159000"/>
            <a:ext cx="6010200" cy="3327400"/>
          </a:xfrm>
        </p:spPr>
        <p:txBody>
          <a:bodyPr>
            <a:normAutofit fontScale="92500"/>
          </a:bodyPr>
          <a:lstStyle/>
          <a:p>
            <a:r>
              <a:rPr lang="de-DE" b="1" dirty="0"/>
              <a:t>...aber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Doppelstufiger LLM-Ansatz sieht definitv alle Chunks, beim RAG-basierten Ansatz wird eine weitere Fehlerquelle bzgl. Vollständigkeit hinzugefügt</a:t>
            </a:r>
          </a:p>
          <a:p>
            <a:pPr marL="342900" indent="-342900">
              <a:buFont typeface="Symbol" pitchFamily="2" charset="2"/>
              <a:buChar char="-"/>
            </a:pPr>
            <a:r>
              <a:rPr lang="de-DE" dirty="0"/>
              <a:t>Weiterer Forschungsbedarf: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dirty="0"/>
              <a:t>Kann Ausgabe vom doppelstufigen LLM-Ansatz zufriedenstellend optimiert werden?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dirty="0"/>
              <a:t>Welchen Einfluss hat die Komplexität des Eingangsdokumentes?</a:t>
            </a:r>
          </a:p>
          <a:p>
            <a:endParaRPr lang="de-DE" b="1" dirty="0"/>
          </a:p>
          <a:p>
            <a:endParaRPr lang="de-DE" b="1" dirty="0"/>
          </a:p>
          <a:p>
            <a:pPr marL="342900" indent="-342900">
              <a:buFont typeface="Symbol" pitchFamily="2" charset="2"/>
              <a:buChar char="-"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5F66A2-DF19-65BB-F80D-C15AC029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C4DC1-7D02-4994-BD54-74988B047B41}" type="slidenum">
              <a:rPr lang="de-DE" sz="1600" b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de-DE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958302-9FA2-64FC-CF45-93377DCE9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de-DE" dirty="0"/>
              <a:t>| PFLICHTENHEFTANALYSE | GRUPPE 2</a:t>
            </a:r>
          </a:p>
        </p:txBody>
      </p:sp>
    </p:spTree>
    <p:extLst>
      <p:ext uri="{BB962C8B-B14F-4D97-AF65-F5344CB8AC3E}">
        <p14:creationId xmlns:p14="http://schemas.microsoft.com/office/powerpoint/2010/main" val="1704361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/>
        </p:nvSpPr>
        <p:spPr>
          <a:xfrm>
            <a:off x="0" y="0"/>
            <a:ext cx="12217400" cy="6863981"/>
          </a:xfrm>
          <a:prstGeom prst="rect">
            <a:avLst/>
          </a:prstGeom>
          <a:solidFill>
            <a:srgbClr val="7B0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550024" y="511959"/>
            <a:ext cx="6172894" cy="2055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00"/>
              </a:lnSpc>
            </a:pP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Vielen Dank für ihre Aufmerksamkeit</a:t>
            </a:r>
            <a:r>
              <a:rPr lang="de-DE" sz="30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3900"/>
              </a:lnSpc>
            </a:pPr>
            <a:endParaRPr lang="de-DE" sz="3000" b="1" cap="al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900"/>
              </a:lnSpc>
            </a:pPr>
            <a:r>
              <a:rPr lang="de-DE" sz="30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Haben sie noch </a:t>
            </a:r>
            <a:r>
              <a:rPr lang="de-DE" sz="30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Fragen? </a:t>
            </a: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241" y="6315074"/>
            <a:ext cx="216000" cy="247355"/>
          </a:xfrm>
          <a:prstGeom prst="rect">
            <a:avLst/>
          </a:prstGeom>
        </p:spPr>
      </p:pic>
      <p:pic>
        <p:nvPicPr>
          <p:cNvPr id="4" name="Grafik 3" descr="Fragezeichen mit einfarbiger Füllung">
            <a:extLst>
              <a:ext uri="{FF2B5EF4-FFF2-40B4-BE49-F238E27FC236}">
                <a16:creationId xmlns:a16="http://schemas.microsoft.com/office/drawing/2014/main" id="{D0B9E06D-8D91-BE93-A287-FA889425D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401" y="-1127760"/>
            <a:ext cx="8869680" cy="88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5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euphana2020">
      <a:dk1>
        <a:sysClr val="windowText" lastClr="000000"/>
      </a:dk1>
      <a:lt1>
        <a:sysClr val="window" lastClr="FFFFFF"/>
      </a:lt1>
      <a:dk2>
        <a:srgbClr val="80867B"/>
      </a:dk2>
      <a:lt2>
        <a:srgbClr val="C9D2D5"/>
      </a:lt2>
      <a:accent1>
        <a:srgbClr val="927B2D"/>
      </a:accent1>
      <a:accent2>
        <a:srgbClr val="8D8E3D"/>
      </a:accent2>
      <a:accent3>
        <a:srgbClr val="66787C"/>
      </a:accent3>
      <a:accent4>
        <a:srgbClr val="80867B"/>
      </a:accent4>
      <a:accent5>
        <a:srgbClr val="691633"/>
      </a:accent5>
      <a:accent6>
        <a:srgbClr val="C9D2D5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_Ethik_Bildverarbeitung_mit_KI" id="{2D3C9CBC-AB6A-0E47-822E-0E4AC39AA566}" vid="{1CE6AC3A-0A92-A341-9AEB-69C5B1C1DB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1306</Words>
  <Application>Microsoft Office PowerPoint</Application>
  <PresentationFormat>Widescreen</PresentationFormat>
  <Paragraphs>288</Paragraphs>
  <Slides>22</Slides>
  <Notes>21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Arial</vt:lpstr>
      <vt:lpstr>Symbol</vt:lpstr>
      <vt:lpstr>Arial Narrow</vt:lpstr>
      <vt:lpstr>Wingdings</vt:lpstr>
      <vt:lpstr>Office</vt:lpstr>
      <vt:lpstr>PowerPoint Presentation</vt:lpstr>
      <vt:lpstr>Team</vt:lpstr>
      <vt:lpstr>AGENDA</vt:lpstr>
      <vt:lpstr>Aufgabenstellung</vt:lpstr>
      <vt:lpstr>Zielsetzung</vt:lpstr>
      <vt:lpstr>Voreinstellungen</vt:lpstr>
      <vt:lpstr>Schematische Übersicht der Ansätze</vt:lpstr>
      <vt:lpstr>Ansatz 1: Doppelstufiges llm Methodik</vt:lpstr>
      <vt:lpstr>Ergänzender  Flow Chart   Ansatz 1:  Doppelstufiges llm Methodik</vt:lpstr>
      <vt:lpstr>Ansatz 2: eigenes RAG-System Methodik</vt:lpstr>
      <vt:lpstr>Ergänzender  Flow Chart  Ansatz 2:  eigenes RAG-System Methodik</vt:lpstr>
      <vt:lpstr>Ergänzender Fragenkatalog  Ansatz 2:  eigenes RAG-System Methodik</vt:lpstr>
      <vt:lpstr>Methodik der Ansätze und Bewertung</vt:lpstr>
      <vt:lpstr>Ergebnisse &amp; Vergleich der Ansätze Rückverfolgbarkeit</vt:lpstr>
      <vt:lpstr>Ergebnisse &amp; Vergleich der Ansätze Vollständigkeit</vt:lpstr>
      <vt:lpstr>Ergebnisse &amp; Vergleich der Ansätze Eindeutigkeit </vt:lpstr>
      <vt:lpstr>Ergebnisse &amp; Vergleich der Ansätze Redundanzfreiheit</vt:lpstr>
      <vt:lpstr>Ergebnisse &amp; Vergleich der Ansätze Atomarität</vt:lpstr>
      <vt:lpstr>Ergebnisse &amp; Vergleich der Ansätze Inhaltliche präzision</vt:lpstr>
      <vt:lpstr>Ergebnisse &amp; Vergleich der Ansätze Validierungsmethoden</vt:lpstr>
      <vt:lpstr>Einordnung der Ergebnisse &amp; Ausblick </vt:lpstr>
      <vt:lpstr>PowerPoint Presentation</vt:lpstr>
    </vt:vector>
  </TitlesOfParts>
  <Manager>Jens Stein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 Wettstaedt</dc:creator>
  <cp:lastModifiedBy>Jan Ole Trosin</cp:lastModifiedBy>
  <cp:revision>3</cp:revision>
  <dcterms:created xsi:type="dcterms:W3CDTF">2025-10-11T09:53:43Z</dcterms:created>
  <dcterms:modified xsi:type="dcterms:W3CDTF">2026-04-14T13:43:57Z</dcterms:modified>
</cp:coreProperties>
</file>